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3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207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52B788"/>
          </a:solidFill>
          <a:ln/>
        </p:spPr>
      </p:sp>
      <p:sp>
        <p:nvSpPr>
          <p:cNvPr id="3" name="Text 1"/>
          <p:cNvSpPr/>
          <p:nvPr/>
        </p:nvSpPr>
        <p:spPr>
          <a:xfrm>
            <a:off x="457200" y="1005840"/>
            <a:ext cx="8229600" cy="914400"/>
          </a:xfrm>
          <a:prstGeom prst="rect">
            <a:avLst/>
          </a:prstGeom>
          <a:noFill/>
          <a:ln/>
        </p:spPr>
        <p:txBody>
          <a:bodyPr wrap="square" lIns="0" tIns="0" rIns="0" bIns="0" rtlCol="0" anchor="ctr"/>
          <a:lstStyle/>
          <a:p>
            <a:pPr marL="0" indent="0">
              <a:buNone/>
            </a:pPr>
            <a:r>
              <a:rPr lang="en-US" sz="6400" b="1" dirty="0">
                <a:solidFill>
                  <a:srgbClr val="FFFFFF"/>
                </a:solidFill>
                <a:latin typeface="Georgia" pitchFamily="34" charset="0"/>
                <a:ea typeface="Georgia" pitchFamily="34" charset="-122"/>
                <a:cs typeface="Georgia" pitchFamily="34" charset="-120"/>
              </a:rPr>
              <a:t>Agri</a:t>
            </a:r>
            <a:endParaRPr lang="en-US" sz="6400" dirty="0"/>
          </a:p>
        </p:txBody>
      </p:sp>
      <p:sp>
        <p:nvSpPr>
          <p:cNvPr id="4" name="Text 2"/>
          <p:cNvSpPr/>
          <p:nvPr/>
        </p:nvSpPr>
        <p:spPr>
          <a:xfrm>
            <a:off x="2302310" y="1005840"/>
            <a:ext cx="8229600" cy="914400"/>
          </a:xfrm>
          <a:prstGeom prst="rect">
            <a:avLst/>
          </a:prstGeom>
          <a:noFill/>
          <a:ln/>
        </p:spPr>
        <p:txBody>
          <a:bodyPr wrap="square" lIns="0" tIns="0" rIns="0" bIns="0" rtlCol="0" anchor="ctr"/>
          <a:lstStyle/>
          <a:p>
            <a:pPr marL="0" indent="0">
              <a:buNone/>
            </a:pPr>
            <a:r>
              <a:rPr lang="en-US" sz="6400" b="1" i="1" dirty="0">
                <a:solidFill>
                  <a:schemeClr val="accent6">
                    <a:lumMod val="40000"/>
                    <a:lumOff val="60000"/>
                  </a:schemeClr>
                </a:solidFill>
                <a:latin typeface="Georgia" pitchFamily="34" charset="0"/>
                <a:ea typeface="Georgia" pitchFamily="34" charset="-122"/>
                <a:cs typeface="Georgia" pitchFamily="34" charset="-120"/>
              </a:rPr>
              <a:t>Intel</a:t>
            </a:r>
            <a:endParaRPr lang="en-US" sz="6400" dirty="0">
              <a:solidFill>
                <a:schemeClr val="accent6">
                  <a:lumMod val="40000"/>
                  <a:lumOff val="60000"/>
                </a:schemeClr>
              </a:solidFill>
            </a:endParaRPr>
          </a:p>
        </p:txBody>
      </p:sp>
      <p:sp>
        <p:nvSpPr>
          <p:cNvPr id="5" name="Text 3"/>
          <p:cNvSpPr/>
          <p:nvPr/>
        </p:nvSpPr>
        <p:spPr>
          <a:xfrm>
            <a:off x="457200" y="2057400"/>
            <a:ext cx="6858000" cy="457200"/>
          </a:xfrm>
          <a:prstGeom prst="rect">
            <a:avLst/>
          </a:prstGeom>
          <a:noFill/>
          <a:ln/>
        </p:spPr>
        <p:txBody>
          <a:bodyPr wrap="square" lIns="0" tIns="0" rIns="0" bIns="0" rtlCol="0" anchor="ctr"/>
          <a:lstStyle/>
          <a:p>
            <a:pPr marL="0" indent="0">
              <a:buNone/>
            </a:pPr>
            <a:r>
              <a:rPr lang="en-US" sz="1800" dirty="0">
                <a:solidFill>
                  <a:srgbClr val="A8D5B5"/>
                </a:solidFill>
                <a:latin typeface="Calibri" pitchFamily="34" charset="0"/>
                <a:ea typeface="Calibri" pitchFamily="34" charset="-122"/>
                <a:cs typeface="Calibri" pitchFamily="34" charset="-120"/>
              </a:rPr>
              <a:t>A machine learning system to predict farmer income</a:t>
            </a:r>
            <a:endParaRPr lang="en-US" sz="1800" dirty="0"/>
          </a:p>
        </p:txBody>
      </p:sp>
      <p:sp>
        <p:nvSpPr>
          <p:cNvPr id="6" name="Shape 4"/>
          <p:cNvSpPr/>
          <p:nvPr/>
        </p:nvSpPr>
        <p:spPr>
          <a:xfrm>
            <a:off x="457200" y="2834640"/>
            <a:ext cx="1920240" cy="822960"/>
          </a:xfrm>
          <a:prstGeom prst="roundRect">
            <a:avLst>
              <a:gd name="adj" fmla="val 8889"/>
            </a:avLst>
          </a:prstGeom>
          <a:solidFill>
            <a:srgbClr val="2D6A4F"/>
          </a:solidFill>
          <a:ln/>
        </p:spPr>
      </p:sp>
      <p:sp>
        <p:nvSpPr>
          <p:cNvPr id="7" name="Text 5"/>
          <p:cNvSpPr/>
          <p:nvPr/>
        </p:nvSpPr>
        <p:spPr>
          <a:xfrm>
            <a:off x="457200" y="2880360"/>
            <a:ext cx="1920240" cy="347472"/>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43,173</a:t>
            </a:r>
            <a:endParaRPr lang="en-US" sz="2200" dirty="0"/>
          </a:p>
        </p:txBody>
      </p:sp>
      <p:sp>
        <p:nvSpPr>
          <p:cNvPr id="8" name="Text 6"/>
          <p:cNvSpPr/>
          <p:nvPr/>
        </p:nvSpPr>
        <p:spPr>
          <a:xfrm>
            <a:off x="457200" y="3246120"/>
            <a:ext cx="1920240" cy="274320"/>
          </a:xfrm>
          <a:prstGeom prst="rect">
            <a:avLst/>
          </a:prstGeom>
          <a:noFill/>
          <a:ln/>
        </p:spPr>
        <p:txBody>
          <a:bodyPr wrap="square" lIns="0" tIns="0" rIns="0" bIns="0"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Farmer Records</a:t>
            </a:r>
            <a:endParaRPr lang="en-US" sz="1000" dirty="0"/>
          </a:p>
        </p:txBody>
      </p:sp>
      <p:sp>
        <p:nvSpPr>
          <p:cNvPr id="9" name="Shape 7"/>
          <p:cNvSpPr/>
          <p:nvPr/>
        </p:nvSpPr>
        <p:spPr>
          <a:xfrm>
            <a:off x="2606040" y="2834640"/>
            <a:ext cx="1920240" cy="822960"/>
          </a:xfrm>
          <a:prstGeom prst="roundRect">
            <a:avLst>
              <a:gd name="adj" fmla="val 8889"/>
            </a:avLst>
          </a:prstGeom>
          <a:solidFill>
            <a:srgbClr val="2D6A4F"/>
          </a:solidFill>
          <a:ln/>
        </p:spPr>
      </p:sp>
      <p:sp>
        <p:nvSpPr>
          <p:cNvPr id="10" name="Text 8"/>
          <p:cNvSpPr/>
          <p:nvPr/>
        </p:nvSpPr>
        <p:spPr>
          <a:xfrm>
            <a:off x="2606040" y="2880360"/>
            <a:ext cx="1920240" cy="347472"/>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105</a:t>
            </a:r>
            <a:endParaRPr lang="en-US" sz="2200" dirty="0"/>
          </a:p>
        </p:txBody>
      </p:sp>
      <p:sp>
        <p:nvSpPr>
          <p:cNvPr id="11" name="Text 9"/>
          <p:cNvSpPr/>
          <p:nvPr/>
        </p:nvSpPr>
        <p:spPr>
          <a:xfrm>
            <a:off x="2606040" y="3246120"/>
            <a:ext cx="1920240" cy="274320"/>
          </a:xfrm>
          <a:prstGeom prst="rect">
            <a:avLst/>
          </a:prstGeom>
          <a:noFill/>
          <a:ln/>
        </p:spPr>
        <p:txBody>
          <a:bodyPr wrap="square" lIns="0" tIns="0" rIns="0" bIns="0"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Features</a:t>
            </a:r>
            <a:endParaRPr lang="en-US" sz="1000" dirty="0"/>
          </a:p>
        </p:txBody>
      </p:sp>
      <p:sp>
        <p:nvSpPr>
          <p:cNvPr id="12" name="Shape 10"/>
          <p:cNvSpPr/>
          <p:nvPr/>
        </p:nvSpPr>
        <p:spPr>
          <a:xfrm>
            <a:off x="4754880" y="2834640"/>
            <a:ext cx="1920240" cy="822960"/>
          </a:xfrm>
          <a:prstGeom prst="roundRect">
            <a:avLst>
              <a:gd name="adj" fmla="val 8889"/>
            </a:avLst>
          </a:prstGeom>
          <a:solidFill>
            <a:srgbClr val="2D6A4F"/>
          </a:solidFill>
          <a:ln/>
        </p:spPr>
      </p:sp>
      <p:sp>
        <p:nvSpPr>
          <p:cNvPr id="13" name="Text 11"/>
          <p:cNvSpPr/>
          <p:nvPr/>
        </p:nvSpPr>
        <p:spPr>
          <a:xfrm>
            <a:off x="4754880" y="2880360"/>
            <a:ext cx="1920240" cy="347472"/>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4" name="Text 12"/>
          <p:cNvSpPr/>
          <p:nvPr/>
        </p:nvSpPr>
        <p:spPr>
          <a:xfrm>
            <a:off x="4754880" y="3246120"/>
            <a:ext cx="1920240" cy="274320"/>
          </a:xfrm>
          <a:prstGeom prst="rect">
            <a:avLst/>
          </a:prstGeom>
          <a:noFill/>
          <a:ln/>
        </p:spPr>
        <p:txBody>
          <a:bodyPr wrap="square" lIns="0" tIns="0" rIns="0" bIns="0"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ML Models</a:t>
            </a:r>
            <a:endParaRPr lang="en-US" sz="1000" dirty="0"/>
          </a:p>
        </p:txBody>
      </p:sp>
      <p:sp>
        <p:nvSpPr>
          <p:cNvPr id="15" name="Shape 13"/>
          <p:cNvSpPr/>
          <p:nvPr/>
        </p:nvSpPr>
        <p:spPr>
          <a:xfrm>
            <a:off x="6903720" y="2834640"/>
            <a:ext cx="1920240" cy="822960"/>
          </a:xfrm>
          <a:prstGeom prst="roundRect">
            <a:avLst>
              <a:gd name="adj" fmla="val 8889"/>
            </a:avLst>
          </a:prstGeom>
          <a:solidFill>
            <a:srgbClr val="2D6A4F"/>
          </a:solidFill>
          <a:ln/>
        </p:spPr>
      </p:sp>
      <p:sp>
        <p:nvSpPr>
          <p:cNvPr id="16" name="Text 14"/>
          <p:cNvSpPr/>
          <p:nvPr/>
        </p:nvSpPr>
        <p:spPr>
          <a:xfrm>
            <a:off x="6903720" y="2880360"/>
            <a:ext cx="1920240" cy="347472"/>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20.24%</a:t>
            </a:r>
            <a:endParaRPr lang="en-US" sz="2200" dirty="0"/>
          </a:p>
        </p:txBody>
      </p:sp>
      <p:sp>
        <p:nvSpPr>
          <p:cNvPr id="17" name="Text 15"/>
          <p:cNvSpPr/>
          <p:nvPr/>
        </p:nvSpPr>
        <p:spPr>
          <a:xfrm>
            <a:off x="6903720" y="3246120"/>
            <a:ext cx="1920240" cy="274320"/>
          </a:xfrm>
          <a:prstGeom prst="rect">
            <a:avLst/>
          </a:prstGeom>
          <a:noFill/>
          <a:ln/>
        </p:spPr>
        <p:txBody>
          <a:bodyPr wrap="square" lIns="0" tIns="0" rIns="0" bIns="0" rtlCol="0" anchor="ctr"/>
          <a:lstStyle/>
          <a:p>
            <a:pPr marL="0" indent="0" algn="ctr">
              <a:buNone/>
            </a:pPr>
            <a:r>
              <a:rPr lang="en-US" sz="1000" dirty="0">
                <a:solidFill>
                  <a:srgbClr val="D8F3DC"/>
                </a:solidFill>
                <a:latin typeface="Calibri" pitchFamily="34" charset="0"/>
                <a:ea typeface="Calibri" pitchFamily="34" charset="-122"/>
                <a:cs typeface="Calibri" pitchFamily="34" charset="-120"/>
              </a:rPr>
              <a:t>Final MAPE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Problem</a:t>
            </a:r>
            <a:endParaRPr lang="en-US" sz="2600" dirty="0"/>
          </a:p>
        </p:txBody>
      </p:sp>
      <p:sp>
        <p:nvSpPr>
          <p:cNvPr id="4" name="Shape 2"/>
          <p:cNvSpPr/>
          <p:nvPr/>
        </p:nvSpPr>
        <p:spPr>
          <a:xfrm>
            <a:off x="365760" y="960120"/>
            <a:ext cx="4114800" cy="3474720"/>
          </a:xfrm>
          <a:prstGeom prst="rect">
            <a:avLst/>
          </a:prstGeom>
          <a:solidFill>
            <a:srgbClr val="F7F9F7"/>
          </a:solidFill>
          <a:ln/>
          <a:effectLst>
            <a:outerShdw blurRad="101600" dist="38100" dir="8100000" algn="bl" rotWithShape="0">
              <a:srgbClr val="000000">
                <a:alpha val="10000"/>
              </a:srgbClr>
            </a:outerShdw>
          </a:effectLst>
        </p:spPr>
      </p:sp>
      <p:sp>
        <p:nvSpPr>
          <p:cNvPr id="5" name="Text 3"/>
          <p:cNvSpPr/>
          <p:nvPr/>
        </p:nvSpPr>
        <p:spPr>
          <a:xfrm>
            <a:off x="502920" y="1097280"/>
            <a:ext cx="3840480" cy="365760"/>
          </a:xfrm>
          <a:prstGeom prst="rect">
            <a:avLst/>
          </a:prstGeom>
          <a:noFill/>
          <a:ln/>
        </p:spPr>
        <p:txBody>
          <a:bodyPr wrap="square" lIns="0" tIns="0" rIns="0" bIns="0" rtlCol="0" anchor="ctr"/>
          <a:lstStyle/>
          <a:p>
            <a:pPr marL="0" indent="0">
              <a:buNone/>
            </a:pPr>
            <a:r>
              <a:rPr lang="en-US" sz="1400" b="1" dirty="0">
                <a:solidFill>
                  <a:srgbClr val="1B4332"/>
                </a:solidFill>
                <a:latin typeface="Georgia" pitchFamily="34" charset="0"/>
                <a:ea typeface="Georgia" pitchFamily="34" charset="-122"/>
                <a:cs typeface="Georgia" pitchFamily="34" charset="-120"/>
              </a:rPr>
              <a:t>The Real-World Challenge</a:t>
            </a:r>
            <a:endParaRPr lang="en-US" sz="1400" dirty="0"/>
          </a:p>
        </p:txBody>
      </p:sp>
      <p:sp>
        <p:nvSpPr>
          <p:cNvPr id="6" name="Text 4"/>
          <p:cNvSpPr/>
          <p:nvPr/>
        </p:nvSpPr>
        <p:spPr>
          <a:xfrm>
            <a:off x="502920" y="1508760"/>
            <a:ext cx="3840480" cy="2651760"/>
          </a:xfrm>
          <a:prstGeom prst="rect">
            <a:avLst/>
          </a:prstGeom>
          <a:noFill/>
          <a:ln/>
        </p:spPr>
        <p:txBody>
          <a:bodyPr wrap="square" rtlCol="0" anchor="t"/>
          <a:lstStyle/>
          <a:p>
            <a:pPr marL="0" indent="0">
              <a:buNone/>
            </a:pPr>
            <a:r>
              <a:rPr lang="en-US" sz="1250" dirty="0">
                <a:solidFill>
                  <a:srgbClr val="374151"/>
                </a:solidFill>
                <a:latin typeface="Calibri" pitchFamily="34" charset="0"/>
                <a:ea typeface="Calibri" pitchFamily="34" charset="-122"/>
                <a:cs typeface="Calibri" pitchFamily="34" charset="-120"/>
              </a:rPr>
              <a:t>Banks need to assess if a farmer can repay a loan. But most small farmers in India have no bank statements, no credit history, and no formal financial records.</a:t>
            </a:r>
            <a:endParaRPr lang="en-US" sz="1250" dirty="0"/>
          </a:p>
          <a:p>
            <a:pPr marL="0" indent="0">
              <a:buNone/>
            </a:pPr>
            <a:endParaRPr lang="en-US" sz="1250" dirty="0"/>
          </a:p>
          <a:p>
            <a:pPr marL="0" indent="0">
              <a:buNone/>
            </a:pPr>
            <a:r>
              <a:rPr lang="en-US" sz="1250" b="1" dirty="0">
                <a:solidFill>
                  <a:srgbClr val="374151"/>
                </a:solidFill>
                <a:latin typeface="Calibri" pitchFamily="34" charset="0"/>
                <a:ea typeface="Calibri" pitchFamily="34" charset="-122"/>
                <a:cs typeface="Calibri" pitchFamily="34" charset="-120"/>
              </a:rPr>
              <a:t>So how does a bank decide?</a:t>
            </a:r>
            <a:endParaRPr lang="en-US" sz="1250" dirty="0"/>
          </a:p>
          <a:p>
            <a:pPr marL="0" indent="0">
              <a:buNone/>
            </a:pPr>
            <a:endParaRPr lang="en-US" sz="1250" dirty="0"/>
          </a:p>
          <a:p>
            <a:pPr marL="0" indent="0">
              <a:buNone/>
            </a:pPr>
            <a:r>
              <a:rPr lang="en-US" sz="1250" dirty="0">
                <a:solidFill>
                  <a:srgbClr val="374151"/>
                </a:solidFill>
                <a:latin typeface="Calibri" pitchFamily="34" charset="0"/>
                <a:ea typeface="Calibri" pitchFamily="34" charset="-122"/>
                <a:cs typeface="Calibri" pitchFamily="34" charset="-120"/>
              </a:rPr>
              <a:t>They estimate income from observable signals, land size, location, infrastructure access, soil quality, seasonal crop performance, and more.</a:t>
            </a:r>
            <a:endParaRPr lang="en-US" sz="1250" dirty="0"/>
          </a:p>
        </p:txBody>
      </p:sp>
      <p:sp>
        <p:nvSpPr>
          <p:cNvPr id="7" name="Shape 5"/>
          <p:cNvSpPr/>
          <p:nvPr/>
        </p:nvSpPr>
        <p:spPr>
          <a:xfrm>
            <a:off x="4754880" y="960120"/>
            <a:ext cx="4023360" cy="3474720"/>
          </a:xfrm>
          <a:prstGeom prst="rect">
            <a:avLst/>
          </a:prstGeom>
          <a:solidFill>
            <a:srgbClr val="1B4332"/>
          </a:solidFill>
          <a:ln/>
          <a:effectLst>
            <a:outerShdw blurRad="101600" dist="38100" dir="8100000" algn="bl" rotWithShape="0">
              <a:srgbClr val="000000">
                <a:alpha val="10000"/>
              </a:srgbClr>
            </a:outerShdw>
          </a:effectLst>
        </p:spPr>
      </p:sp>
      <p:sp>
        <p:nvSpPr>
          <p:cNvPr id="8" name="Text 6"/>
          <p:cNvSpPr/>
          <p:nvPr/>
        </p:nvSpPr>
        <p:spPr>
          <a:xfrm>
            <a:off x="4892040" y="1097280"/>
            <a:ext cx="3749040" cy="365760"/>
          </a:xfrm>
          <a:prstGeom prst="rect">
            <a:avLst/>
          </a:prstGeom>
          <a:noFill/>
          <a:ln/>
        </p:spPr>
        <p:txBody>
          <a:bodyPr wrap="square" lIns="0" tIns="0" rIns="0" bIns="0" rtlCol="0" anchor="ctr"/>
          <a:lstStyle/>
          <a:p>
            <a:pPr marL="0" indent="0">
              <a:buNone/>
            </a:pPr>
            <a:r>
              <a:rPr lang="en-US" sz="1400" b="1" dirty="0">
                <a:solidFill>
                  <a:srgbClr val="52B788"/>
                </a:solidFill>
                <a:latin typeface="Georgia" pitchFamily="34" charset="0"/>
                <a:ea typeface="Georgia" pitchFamily="34" charset="-122"/>
                <a:cs typeface="Georgia" pitchFamily="34" charset="-120"/>
              </a:rPr>
              <a:t>Our Task</a:t>
            </a:r>
            <a:endParaRPr lang="en-US" sz="1400" dirty="0"/>
          </a:p>
        </p:txBody>
      </p:sp>
      <p:sp>
        <p:nvSpPr>
          <p:cNvPr id="9" name="Text 7"/>
          <p:cNvSpPr/>
          <p:nvPr/>
        </p:nvSpPr>
        <p:spPr>
          <a:xfrm>
            <a:off x="4892040" y="1554480"/>
            <a:ext cx="1051560" cy="384048"/>
          </a:xfrm>
          <a:prstGeom prst="rect">
            <a:avLst/>
          </a:prstGeom>
          <a:noFill/>
          <a:ln/>
        </p:spPr>
        <p:txBody>
          <a:bodyPr wrap="square" lIns="0" tIns="0" rIns="0" bIns="0" rtlCol="0" anchor="ctr"/>
          <a:lstStyle/>
          <a:p>
            <a:pPr marL="0" indent="0">
              <a:buNone/>
            </a:pPr>
            <a:r>
              <a:rPr lang="en-US" sz="1100" b="1" dirty="0">
                <a:solidFill>
                  <a:srgbClr val="C9963A"/>
                </a:solidFill>
                <a:latin typeface="Calibri" pitchFamily="34" charset="0"/>
                <a:ea typeface="Calibri" pitchFamily="34" charset="-122"/>
                <a:cs typeface="Calibri" pitchFamily="34" charset="-120"/>
              </a:rPr>
              <a:t>Predict</a:t>
            </a:r>
            <a:endParaRPr lang="en-US" sz="1100" dirty="0"/>
          </a:p>
        </p:txBody>
      </p:sp>
      <p:sp>
        <p:nvSpPr>
          <p:cNvPr id="10" name="Text 8"/>
          <p:cNvSpPr/>
          <p:nvPr/>
        </p:nvSpPr>
        <p:spPr>
          <a:xfrm>
            <a:off x="5989320" y="1554480"/>
            <a:ext cx="260604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Total annual income for each farmer</a:t>
            </a:r>
            <a:endParaRPr lang="en-US" sz="1100" dirty="0"/>
          </a:p>
        </p:txBody>
      </p:sp>
      <p:sp>
        <p:nvSpPr>
          <p:cNvPr id="11" name="Text 9"/>
          <p:cNvSpPr/>
          <p:nvPr/>
        </p:nvSpPr>
        <p:spPr>
          <a:xfrm>
            <a:off x="4892040" y="2084832"/>
            <a:ext cx="1051560" cy="384048"/>
          </a:xfrm>
          <a:prstGeom prst="rect">
            <a:avLst/>
          </a:prstGeom>
          <a:noFill/>
          <a:ln/>
        </p:spPr>
        <p:txBody>
          <a:bodyPr wrap="square" lIns="0" tIns="0" rIns="0" bIns="0" rtlCol="0" anchor="ctr"/>
          <a:lstStyle/>
          <a:p>
            <a:pPr marL="0" indent="0">
              <a:buNone/>
            </a:pPr>
            <a:r>
              <a:rPr lang="en-US" sz="1100" b="1" dirty="0">
                <a:solidFill>
                  <a:srgbClr val="C9963A"/>
                </a:solidFill>
                <a:latin typeface="Calibri" pitchFamily="34" charset="0"/>
                <a:ea typeface="Calibri" pitchFamily="34" charset="-122"/>
                <a:cs typeface="Calibri" pitchFamily="34" charset="-120"/>
              </a:rPr>
              <a:t>Dataset</a:t>
            </a:r>
            <a:endParaRPr lang="en-US" sz="1100" dirty="0"/>
          </a:p>
        </p:txBody>
      </p:sp>
      <p:sp>
        <p:nvSpPr>
          <p:cNvPr id="12" name="Text 10"/>
          <p:cNvSpPr/>
          <p:nvPr/>
        </p:nvSpPr>
        <p:spPr>
          <a:xfrm>
            <a:off x="5989320" y="2084832"/>
            <a:ext cx="260604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43,173 records, 105 features per farmer</a:t>
            </a:r>
            <a:endParaRPr lang="en-US" sz="1100" dirty="0"/>
          </a:p>
        </p:txBody>
      </p:sp>
      <p:sp>
        <p:nvSpPr>
          <p:cNvPr id="13" name="Text 11"/>
          <p:cNvSpPr/>
          <p:nvPr/>
        </p:nvSpPr>
        <p:spPr>
          <a:xfrm>
            <a:off x="4892040" y="2615184"/>
            <a:ext cx="1051560" cy="384048"/>
          </a:xfrm>
          <a:prstGeom prst="rect">
            <a:avLst/>
          </a:prstGeom>
          <a:noFill/>
          <a:ln/>
        </p:spPr>
        <p:txBody>
          <a:bodyPr wrap="square" lIns="0" tIns="0" rIns="0" bIns="0" rtlCol="0" anchor="ctr"/>
          <a:lstStyle/>
          <a:p>
            <a:pPr marL="0" indent="0">
              <a:buNone/>
            </a:pPr>
            <a:r>
              <a:rPr lang="en-US" sz="1100" b="1" dirty="0">
                <a:solidFill>
                  <a:srgbClr val="C9963A"/>
                </a:solidFill>
                <a:latin typeface="Calibri" pitchFamily="34" charset="0"/>
                <a:ea typeface="Calibri" pitchFamily="34" charset="-122"/>
                <a:cs typeface="Calibri" pitchFamily="34" charset="-120"/>
              </a:rPr>
              <a:t>Metric</a:t>
            </a:r>
            <a:endParaRPr lang="en-US" sz="1100" dirty="0"/>
          </a:p>
        </p:txBody>
      </p:sp>
      <p:sp>
        <p:nvSpPr>
          <p:cNvPr id="14" name="Text 12"/>
          <p:cNvSpPr/>
          <p:nvPr/>
        </p:nvSpPr>
        <p:spPr>
          <a:xfrm>
            <a:off x="5989320" y="2615184"/>
            <a:ext cx="260604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MAPE (mean absolute percentage error)</a:t>
            </a:r>
            <a:endParaRPr lang="en-US" sz="1100" dirty="0"/>
          </a:p>
        </p:txBody>
      </p:sp>
      <p:sp>
        <p:nvSpPr>
          <p:cNvPr id="15" name="Text 13"/>
          <p:cNvSpPr/>
          <p:nvPr/>
        </p:nvSpPr>
        <p:spPr>
          <a:xfrm>
            <a:off x="4892040" y="3145536"/>
            <a:ext cx="1051560" cy="384048"/>
          </a:xfrm>
          <a:prstGeom prst="rect">
            <a:avLst/>
          </a:prstGeom>
          <a:noFill/>
          <a:ln/>
        </p:spPr>
        <p:txBody>
          <a:bodyPr wrap="square" lIns="0" tIns="0" rIns="0" bIns="0" rtlCol="0" anchor="ctr"/>
          <a:lstStyle/>
          <a:p>
            <a:pPr marL="0" indent="0">
              <a:buNone/>
            </a:pPr>
            <a:r>
              <a:rPr lang="en-US" sz="1100" b="1" dirty="0">
                <a:solidFill>
                  <a:srgbClr val="C9963A"/>
                </a:solidFill>
                <a:latin typeface="Calibri" pitchFamily="34" charset="0"/>
                <a:ea typeface="Calibri" pitchFamily="34" charset="-122"/>
                <a:cs typeface="Calibri" pitchFamily="34" charset="-120"/>
              </a:rPr>
              <a:t>Bonus A</a:t>
            </a:r>
            <a:endParaRPr lang="en-US" sz="1100" dirty="0"/>
          </a:p>
        </p:txBody>
      </p:sp>
      <p:sp>
        <p:nvSpPr>
          <p:cNvPr id="16" name="Text 14"/>
          <p:cNvSpPr/>
          <p:nvPr/>
        </p:nvSpPr>
        <p:spPr>
          <a:xfrm>
            <a:off x="5989320" y="3145536"/>
            <a:ext cx="260604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Recommend income-boosting interventions</a:t>
            </a:r>
            <a:endParaRPr lang="en-US" sz="1100" dirty="0"/>
          </a:p>
        </p:txBody>
      </p:sp>
      <p:sp>
        <p:nvSpPr>
          <p:cNvPr id="17" name="Text 15"/>
          <p:cNvSpPr/>
          <p:nvPr/>
        </p:nvSpPr>
        <p:spPr>
          <a:xfrm>
            <a:off x="4892040" y="3675888"/>
            <a:ext cx="1051560" cy="384048"/>
          </a:xfrm>
          <a:prstGeom prst="rect">
            <a:avLst/>
          </a:prstGeom>
          <a:noFill/>
          <a:ln/>
        </p:spPr>
        <p:txBody>
          <a:bodyPr wrap="square" lIns="0" tIns="0" rIns="0" bIns="0" rtlCol="0" anchor="ctr"/>
          <a:lstStyle/>
          <a:p>
            <a:pPr marL="0" indent="0">
              <a:buNone/>
            </a:pPr>
            <a:r>
              <a:rPr lang="en-US" sz="1100" b="1" dirty="0">
                <a:solidFill>
                  <a:srgbClr val="C9963A"/>
                </a:solidFill>
                <a:latin typeface="Calibri" pitchFamily="34" charset="0"/>
                <a:ea typeface="Calibri" pitchFamily="34" charset="-122"/>
                <a:cs typeface="Calibri" pitchFamily="34" charset="-120"/>
              </a:rPr>
              <a:t>Bonus B</a:t>
            </a:r>
            <a:endParaRPr lang="en-US" sz="1100" dirty="0"/>
          </a:p>
        </p:txBody>
      </p:sp>
      <p:sp>
        <p:nvSpPr>
          <p:cNvPr id="18" name="Text 16"/>
          <p:cNvSpPr/>
          <p:nvPr/>
        </p:nvSpPr>
        <p:spPr>
          <a:xfrm>
            <a:off x="5989320" y="3675888"/>
            <a:ext cx="260604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Model seasonal income volatility as a credit risk signal</a:t>
            </a:r>
            <a:endParaRPr lang="en-US" sz="1100" dirty="0"/>
          </a:p>
        </p:txBody>
      </p:sp>
      <p:sp>
        <p:nvSpPr>
          <p:cNvPr id="19" name="Text 17"/>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02</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Pipeline Overview</a:t>
            </a:r>
            <a:endParaRPr lang="en-US" sz="2600" dirty="0"/>
          </a:p>
        </p:txBody>
      </p:sp>
      <p:sp>
        <p:nvSpPr>
          <p:cNvPr id="4" name="Shape 2"/>
          <p:cNvSpPr/>
          <p:nvPr/>
        </p:nvSpPr>
        <p:spPr>
          <a:xfrm>
            <a:off x="228600" y="1005840"/>
            <a:ext cx="1051560" cy="1051560"/>
          </a:xfrm>
          <a:prstGeom prst="rect">
            <a:avLst/>
          </a:prstGeom>
          <a:solidFill>
            <a:srgbClr val="2D6A4F"/>
          </a:solidFill>
          <a:ln/>
          <a:effectLst>
            <a:outerShdw blurRad="101600" dist="38100" dir="8100000" algn="bl" rotWithShape="0">
              <a:srgbClr val="000000">
                <a:alpha val="10000"/>
              </a:srgbClr>
            </a:outerShdw>
          </a:effectLst>
        </p:spPr>
      </p:sp>
      <p:sp>
        <p:nvSpPr>
          <p:cNvPr id="5" name="Text 3"/>
          <p:cNvSpPr/>
          <p:nvPr/>
        </p:nvSpPr>
        <p:spPr>
          <a:xfrm>
            <a:off x="228600" y="1051560"/>
            <a:ext cx="105156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228600" y="1463040"/>
            <a:ext cx="10515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Load Data</a:t>
            </a:r>
            <a:endParaRPr lang="en-US" sz="1000" dirty="0"/>
          </a:p>
        </p:txBody>
      </p:sp>
      <p:sp>
        <p:nvSpPr>
          <p:cNvPr id="7" name="Shape 5"/>
          <p:cNvSpPr/>
          <p:nvPr/>
        </p:nvSpPr>
        <p:spPr>
          <a:xfrm>
            <a:off x="1298448" y="1485900"/>
            <a:ext cx="146304" cy="0"/>
          </a:xfrm>
          <a:prstGeom prst="line">
            <a:avLst/>
          </a:prstGeom>
          <a:noFill/>
          <a:ln w="25400">
            <a:solidFill>
              <a:srgbClr val="52B788"/>
            </a:solidFill>
            <a:prstDash val="solid"/>
          </a:ln>
        </p:spPr>
      </p:sp>
      <p:sp>
        <p:nvSpPr>
          <p:cNvPr id="8" name="Shape 6"/>
          <p:cNvSpPr/>
          <p:nvPr/>
        </p:nvSpPr>
        <p:spPr>
          <a:xfrm>
            <a:off x="228600" y="2240280"/>
            <a:ext cx="1051560" cy="731520"/>
          </a:xfrm>
          <a:prstGeom prst="rect">
            <a:avLst/>
          </a:prstGeom>
          <a:solidFill>
            <a:srgbClr val="F7F9F7"/>
          </a:solidFill>
          <a:ln/>
        </p:spPr>
      </p:sp>
      <p:sp>
        <p:nvSpPr>
          <p:cNvPr id="9" name="Text 7"/>
          <p:cNvSpPr/>
          <p:nvPr/>
        </p:nvSpPr>
        <p:spPr>
          <a:xfrm>
            <a:off x="228600" y="2258568"/>
            <a:ext cx="1051560" cy="694944"/>
          </a:xfrm>
          <a:prstGeom prst="rect">
            <a:avLst/>
          </a:prstGeom>
          <a:noFill/>
          <a:ln/>
        </p:spPr>
        <p:txBody>
          <a:bodyPr wrap="square" lIns="25400" tIns="25400" rIns="25400" bIns="25400" rtlCol="0" anchor="ctr"/>
          <a:lstStyle/>
          <a:p>
            <a:pPr marL="0" indent="0" algn="ctr">
              <a:buNone/>
            </a:pPr>
            <a:r>
              <a:rPr lang="en-US" sz="950" dirty="0">
                <a:solidFill>
                  <a:srgbClr val="374151"/>
                </a:solidFill>
                <a:latin typeface="Calibri" pitchFamily="34" charset="0"/>
                <a:ea typeface="Calibri" pitchFamily="34" charset="-122"/>
                <a:cs typeface="Calibri" pitchFamily="34" charset="-120"/>
              </a:rPr>
              <a:t>Read train.xlsx</a:t>
            </a:r>
            <a:endParaRPr lang="en-US" sz="950" dirty="0"/>
          </a:p>
          <a:p>
            <a:pPr marL="0" indent="0" algn="ctr">
              <a:buNone/>
            </a:pPr>
            <a:r>
              <a:rPr lang="en-US" sz="950" dirty="0">
                <a:solidFill>
                  <a:srgbClr val="374151"/>
                </a:solidFill>
                <a:latin typeface="Calibri" pitchFamily="34" charset="0"/>
                <a:ea typeface="Calibri" pitchFamily="34" charset="-122"/>
                <a:cs typeface="Calibri" pitchFamily="34" charset="-120"/>
              </a:rPr>
              <a:t>and test.csv</a:t>
            </a:r>
            <a:endParaRPr lang="en-US" sz="950" dirty="0"/>
          </a:p>
        </p:txBody>
      </p:sp>
      <p:sp>
        <p:nvSpPr>
          <p:cNvPr id="10" name="Shape 8"/>
          <p:cNvSpPr/>
          <p:nvPr/>
        </p:nvSpPr>
        <p:spPr>
          <a:xfrm>
            <a:off x="1463040" y="1005840"/>
            <a:ext cx="1051560" cy="1051560"/>
          </a:xfrm>
          <a:prstGeom prst="rect">
            <a:avLst/>
          </a:prstGeom>
          <a:solidFill>
            <a:srgbClr val="2D6A4F"/>
          </a:solidFill>
          <a:ln/>
          <a:effectLst>
            <a:outerShdw blurRad="101600" dist="38100" dir="8100000" algn="bl" rotWithShape="0">
              <a:srgbClr val="000000">
                <a:alpha val="10000"/>
              </a:srgbClr>
            </a:outerShdw>
          </a:effectLst>
        </p:spPr>
      </p:sp>
      <p:sp>
        <p:nvSpPr>
          <p:cNvPr id="11" name="Text 9"/>
          <p:cNvSpPr/>
          <p:nvPr/>
        </p:nvSpPr>
        <p:spPr>
          <a:xfrm>
            <a:off x="1463040" y="1051560"/>
            <a:ext cx="105156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2" name="Text 10"/>
          <p:cNvSpPr/>
          <p:nvPr/>
        </p:nvSpPr>
        <p:spPr>
          <a:xfrm>
            <a:off x="1463040" y="1463040"/>
            <a:ext cx="10515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Sanitize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Columns</a:t>
            </a:r>
            <a:endParaRPr lang="en-US" sz="1000" dirty="0"/>
          </a:p>
        </p:txBody>
      </p:sp>
      <p:sp>
        <p:nvSpPr>
          <p:cNvPr id="13" name="Shape 11"/>
          <p:cNvSpPr/>
          <p:nvPr/>
        </p:nvSpPr>
        <p:spPr>
          <a:xfrm>
            <a:off x="2532888" y="1485900"/>
            <a:ext cx="146304" cy="0"/>
          </a:xfrm>
          <a:prstGeom prst="line">
            <a:avLst/>
          </a:prstGeom>
          <a:noFill/>
          <a:ln w="25400">
            <a:solidFill>
              <a:srgbClr val="52B788"/>
            </a:solidFill>
            <a:prstDash val="solid"/>
          </a:ln>
        </p:spPr>
      </p:sp>
      <p:sp>
        <p:nvSpPr>
          <p:cNvPr id="14" name="Shape 12"/>
          <p:cNvSpPr/>
          <p:nvPr/>
        </p:nvSpPr>
        <p:spPr>
          <a:xfrm>
            <a:off x="1463040" y="2240280"/>
            <a:ext cx="1051560" cy="731520"/>
          </a:xfrm>
          <a:prstGeom prst="rect">
            <a:avLst/>
          </a:prstGeom>
          <a:solidFill>
            <a:srgbClr val="F7F9F7"/>
          </a:solidFill>
          <a:ln/>
        </p:spPr>
      </p:sp>
      <p:sp>
        <p:nvSpPr>
          <p:cNvPr id="15" name="Text 13"/>
          <p:cNvSpPr/>
          <p:nvPr/>
        </p:nvSpPr>
        <p:spPr>
          <a:xfrm>
            <a:off x="1463040" y="2258568"/>
            <a:ext cx="1051560" cy="694944"/>
          </a:xfrm>
          <a:prstGeom prst="rect">
            <a:avLst/>
          </a:prstGeom>
          <a:noFill/>
          <a:ln/>
        </p:spPr>
        <p:txBody>
          <a:bodyPr wrap="square" lIns="25400" tIns="25400" rIns="25400" bIns="25400" rtlCol="0" anchor="ctr"/>
          <a:lstStyle/>
          <a:p>
            <a:pPr marL="0" indent="0" algn="ctr">
              <a:buNone/>
            </a:pPr>
            <a:r>
              <a:rPr lang="en-US" sz="950" dirty="0">
                <a:solidFill>
                  <a:srgbClr val="374151"/>
                </a:solidFill>
                <a:latin typeface="Calibri" pitchFamily="34" charset="0"/>
                <a:ea typeface="Calibri" pitchFamily="34" charset="-122"/>
                <a:cs typeface="Calibri" pitchFamily="34" charset="-120"/>
              </a:rPr>
              <a:t>Fix special</a:t>
            </a:r>
            <a:endParaRPr lang="en-US" sz="950" dirty="0"/>
          </a:p>
          <a:p>
            <a:pPr marL="0" indent="0" algn="ctr">
              <a:buNone/>
            </a:pPr>
            <a:r>
              <a:rPr lang="en-US" sz="950" dirty="0">
                <a:solidFill>
                  <a:srgbClr val="374151"/>
                </a:solidFill>
                <a:latin typeface="Calibri" pitchFamily="34" charset="0"/>
                <a:ea typeface="Calibri" pitchFamily="34" charset="-122"/>
                <a:cs typeface="Calibri" pitchFamily="34" charset="-120"/>
              </a:rPr>
              <a:t>characters in names</a:t>
            </a:r>
            <a:endParaRPr lang="en-US" sz="950" dirty="0"/>
          </a:p>
        </p:txBody>
      </p:sp>
      <p:sp>
        <p:nvSpPr>
          <p:cNvPr id="16" name="Shape 14"/>
          <p:cNvSpPr/>
          <p:nvPr/>
        </p:nvSpPr>
        <p:spPr>
          <a:xfrm>
            <a:off x="2697480" y="1005840"/>
            <a:ext cx="1051560" cy="1051560"/>
          </a:xfrm>
          <a:prstGeom prst="rect">
            <a:avLst/>
          </a:prstGeom>
          <a:solidFill>
            <a:srgbClr val="2D6A4F"/>
          </a:solidFill>
          <a:ln/>
          <a:effectLst>
            <a:outerShdw blurRad="101600" dist="38100" dir="8100000" algn="bl" rotWithShape="0">
              <a:srgbClr val="000000">
                <a:alpha val="10000"/>
              </a:srgbClr>
            </a:outerShdw>
          </a:effectLst>
        </p:spPr>
      </p:sp>
      <p:sp>
        <p:nvSpPr>
          <p:cNvPr id="17" name="Text 15"/>
          <p:cNvSpPr/>
          <p:nvPr/>
        </p:nvSpPr>
        <p:spPr>
          <a:xfrm>
            <a:off x="2697480" y="1051560"/>
            <a:ext cx="105156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8" name="Text 16"/>
          <p:cNvSpPr/>
          <p:nvPr/>
        </p:nvSpPr>
        <p:spPr>
          <a:xfrm>
            <a:off x="2697480" y="1463040"/>
            <a:ext cx="10515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Encode</a:t>
            </a:r>
            <a:endParaRPr lang="en-US" sz="1000" dirty="0"/>
          </a:p>
        </p:txBody>
      </p:sp>
      <p:sp>
        <p:nvSpPr>
          <p:cNvPr id="19" name="Shape 17"/>
          <p:cNvSpPr/>
          <p:nvPr/>
        </p:nvSpPr>
        <p:spPr>
          <a:xfrm>
            <a:off x="3767328" y="1485900"/>
            <a:ext cx="146304" cy="0"/>
          </a:xfrm>
          <a:prstGeom prst="line">
            <a:avLst/>
          </a:prstGeom>
          <a:noFill/>
          <a:ln w="25400">
            <a:solidFill>
              <a:srgbClr val="52B788"/>
            </a:solidFill>
            <a:prstDash val="solid"/>
          </a:ln>
        </p:spPr>
      </p:sp>
      <p:sp>
        <p:nvSpPr>
          <p:cNvPr id="20" name="Shape 18"/>
          <p:cNvSpPr/>
          <p:nvPr/>
        </p:nvSpPr>
        <p:spPr>
          <a:xfrm>
            <a:off x="2697480" y="2240280"/>
            <a:ext cx="1051560" cy="731520"/>
          </a:xfrm>
          <a:prstGeom prst="rect">
            <a:avLst/>
          </a:prstGeom>
          <a:solidFill>
            <a:srgbClr val="F7F9F7"/>
          </a:solidFill>
          <a:ln/>
        </p:spPr>
      </p:sp>
      <p:sp>
        <p:nvSpPr>
          <p:cNvPr id="21" name="Text 19"/>
          <p:cNvSpPr/>
          <p:nvPr/>
        </p:nvSpPr>
        <p:spPr>
          <a:xfrm>
            <a:off x="2697480" y="2258568"/>
            <a:ext cx="1051560" cy="694944"/>
          </a:xfrm>
          <a:prstGeom prst="rect">
            <a:avLst/>
          </a:prstGeom>
          <a:noFill/>
          <a:ln/>
        </p:spPr>
        <p:txBody>
          <a:bodyPr wrap="square" lIns="25400" tIns="25400" rIns="25400" bIns="25400" rtlCol="0" anchor="ctr"/>
          <a:lstStyle/>
          <a:p>
            <a:pPr marL="0" indent="0" algn="ctr">
              <a:buNone/>
            </a:pPr>
            <a:r>
              <a:rPr lang="en-US" sz="950" dirty="0">
                <a:solidFill>
                  <a:srgbClr val="374151"/>
                </a:solidFill>
                <a:latin typeface="Calibri" pitchFamily="34" charset="0"/>
                <a:ea typeface="Calibri" pitchFamily="34" charset="-122"/>
                <a:cs typeface="Calibri" pitchFamily="34" charset="-120"/>
              </a:rPr>
              <a:t>Handle text, temps,</a:t>
            </a:r>
            <a:endParaRPr lang="en-US" sz="950" dirty="0"/>
          </a:p>
          <a:p>
            <a:pPr marL="0" indent="0" algn="ctr">
              <a:buNone/>
            </a:pPr>
            <a:r>
              <a:rPr lang="en-US" sz="950" dirty="0">
                <a:solidFill>
                  <a:srgbClr val="374151"/>
                </a:solidFill>
                <a:latin typeface="Calibri" pitchFamily="34" charset="0"/>
                <a:ea typeface="Calibri" pitchFamily="34" charset="-122"/>
                <a:cs typeface="Calibri" pitchFamily="34" charset="-120"/>
              </a:rPr>
              <a:t>location, missing vals</a:t>
            </a:r>
            <a:endParaRPr lang="en-US" sz="950" dirty="0"/>
          </a:p>
        </p:txBody>
      </p:sp>
      <p:sp>
        <p:nvSpPr>
          <p:cNvPr id="22" name="Shape 20"/>
          <p:cNvSpPr/>
          <p:nvPr/>
        </p:nvSpPr>
        <p:spPr>
          <a:xfrm>
            <a:off x="3931920" y="1005840"/>
            <a:ext cx="1051560" cy="1051560"/>
          </a:xfrm>
          <a:prstGeom prst="rect">
            <a:avLst/>
          </a:prstGeom>
          <a:solidFill>
            <a:srgbClr val="2D6A4F"/>
          </a:solidFill>
          <a:ln/>
          <a:effectLst>
            <a:outerShdw blurRad="101600" dist="38100" dir="8100000" algn="bl" rotWithShape="0">
              <a:srgbClr val="000000">
                <a:alpha val="10000"/>
              </a:srgbClr>
            </a:outerShdw>
          </a:effectLst>
        </p:spPr>
      </p:sp>
      <p:sp>
        <p:nvSpPr>
          <p:cNvPr id="23" name="Text 21"/>
          <p:cNvSpPr/>
          <p:nvPr/>
        </p:nvSpPr>
        <p:spPr>
          <a:xfrm>
            <a:off x="3931920" y="1051560"/>
            <a:ext cx="105156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4" name="Text 22"/>
          <p:cNvSpPr/>
          <p:nvPr/>
        </p:nvSpPr>
        <p:spPr>
          <a:xfrm>
            <a:off x="3931920" y="1463040"/>
            <a:ext cx="10515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Feature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Engineering</a:t>
            </a:r>
            <a:endParaRPr lang="en-US" sz="1000" dirty="0"/>
          </a:p>
        </p:txBody>
      </p:sp>
      <p:sp>
        <p:nvSpPr>
          <p:cNvPr id="25" name="Shape 23"/>
          <p:cNvSpPr/>
          <p:nvPr/>
        </p:nvSpPr>
        <p:spPr>
          <a:xfrm>
            <a:off x="5001768" y="1485900"/>
            <a:ext cx="146304" cy="0"/>
          </a:xfrm>
          <a:prstGeom prst="line">
            <a:avLst/>
          </a:prstGeom>
          <a:noFill/>
          <a:ln w="25400">
            <a:solidFill>
              <a:srgbClr val="52B788"/>
            </a:solidFill>
            <a:prstDash val="solid"/>
          </a:ln>
        </p:spPr>
      </p:sp>
      <p:sp>
        <p:nvSpPr>
          <p:cNvPr id="26" name="Shape 24"/>
          <p:cNvSpPr/>
          <p:nvPr/>
        </p:nvSpPr>
        <p:spPr>
          <a:xfrm>
            <a:off x="3931920" y="2240280"/>
            <a:ext cx="1051560" cy="731520"/>
          </a:xfrm>
          <a:prstGeom prst="rect">
            <a:avLst/>
          </a:prstGeom>
          <a:solidFill>
            <a:srgbClr val="F7F9F7"/>
          </a:solidFill>
          <a:ln/>
        </p:spPr>
      </p:sp>
      <p:sp>
        <p:nvSpPr>
          <p:cNvPr id="27" name="Text 25"/>
          <p:cNvSpPr/>
          <p:nvPr/>
        </p:nvSpPr>
        <p:spPr>
          <a:xfrm>
            <a:off x="3931920" y="2258568"/>
            <a:ext cx="1051560" cy="694944"/>
          </a:xfrm>
          <a:prstGeom prst="rect">
            <a:avLst/>
          </a:prstGeom>
          <a:noFill/>
          <a:ln/>
        </p:spPr>
        <p:txBody>
          <a:bodyPr wrap="square" lIns="25400" tIns="25400" rIns="25400" bIns="25400" rtlCol="0" anchor="ctr"/>
          <a:lstStyle/>
          <a:p>
            <a:pPr marL="0" indent="0" algn="ctr">
              <a:buNone/>
            </a:pPr>
            <a:r>
              <a:rPr lang="en-US" sz="950" dirty="0">
                <a:solidFill>
                  <a:srgbClr val="374151"/>
                </a:solidFill>
                <a:latin typeface="Calibri" pitchFamily="34" charset="0"/>
                <a:ea typeface="Calibri" pitchFamily="34" charset="-122"/>
                <a:cs typeface="Calibri" pitchFamily="34" charset="-120"/>
              </a:rPr>
              <a:t>10 composite scores</a:t>
            </a:r>
            <a:endParaRPr lang="en-US" sz="950" dirty="0"/>
          </a:p>
          <a:p>
            <a:pPr marL="0" indent="0" algn="ctr">
              <a:buNone/>
            </a:pPr>
            <a:r>
              <a:rPr lang="en-US" sz="950" dirty="0">
                <a:solidFill>
                  <a:srgbClr val="374151"/>
                </a:solidFill>
                <a:latin typeface="Calibri" pitchFamily="34" charset="0"/>
                <a:ea typeface="Calibri" pitchFamily="34" charset="-122"/>
                <a:cs typeface="Calibri" pitchFamily="34" charset="-120"/>
              </a:rPr>
              <a:t>from 105 columns</a:t>
            </a:r>
            <a:endParaRPr lang="en-US" sz="950" dirty="0"/>
          </a:p>
        </p:txBody>
      </p:sp>
      <p:sp>
        <p:nvSpPr>
          <p:cNvPr id="28" name="Shape 26"/>
          <p:cNvSpPr/>
          <p:nvPr/>
        </p:nvSpPr>
        <p:spPr>
          <a:xfrm>
            <a:off x="5166360" y="1005840"/>
            <a:ext cx="1051560" cy="1051560"/>
          </a:xfrm>
          <a:prstGeom prst="rect">
            <a:avLst/>
          </a:prstGeom>
          <a:solidFill>
            <a:srgbClr val="2D6A4F"/>
          </a:solidFill>
          <a:ln/>
          <a:effectLst>
            <a:outerShdw blurRad="101600" dist="38100" dir="8100000" algn="bl" rotWithShape="0">
              <a:srgbClr val="000000">
                <a:alpha val="10000"/>
              </a:srgbClr>
            </a:outerShdw>
          </a:effectLst>
        </p:spPr>
      </p:sp>
      <p:sp>
        <p:nvSpPr>
          <p:cNvPr id="29" name="Text 27"/>
          <p:cNvSpPr/>
          <p:nvPr/>
        </p:nvSpPr>
        <p:spPr>
          <a:xfrm>
            <a:off x="5166360" y="1051560"/>
            <a:ext cx="105156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30" name="Text 28"/>
          <p:cNvSpPr/>
          <p:nvPr/>
        </p:nvSpPr>
        <p:spPr>
          <a:xfrm>
            <a:off x="5166360" y="1463040"/>
            <a:ext cx="10515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Log</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Transform</a:t>
            </a:r>
            <a:endParaRPr lang="en-US" sz="1000" dirty="0"/>
          </a:p>
        </p:txBody>
      </p:sp>
      <p:sp>
        <p:nvSpPr>
          <p:cNvPr id="31" name="Shape 29"/>
          <p:cNvSpPr/>
          <p:nvPr/>
        </p:nvSpPr>
        <p:spPr>
          <a:xfrm>
            <a:off x="6236208" y="1485900"/>
            <a:ext cx="146304" cy="0"/>
          </a:xfrm>
          <a:prstGeom prst="line">
            <a:avLst/>
          </a:prstGeom>
          <a:noFill/>
          <a:ln w="25400">
            <a:solidFill>
              <a:srgbClr val="52B788"/>
            </a:solidFill>
            <a:prstDash val="solid"/>
          </a:ln>
        </p:spPr>
      </p:sp>
      <p:sp>
        <p:nvSpPr>
          <p:cNvPr id="32" name="Shape 30"/>
          <p:cNvSpPr/>
          <p:nvPr/>
        </p:nvSpPr>
        <p:spPr>
          <a:xfrm>
            <a:off x="5166360" y="2240280"/>
            <a:ext cx="1051560" cy="731520"/>
          </a:xfrm>
          <a:prstGeom prst="rect">
            <a:avLst/>
          </a:prstGeom>
          <a:solidFill>
            <a:srgbClr val="F7F9F7"/>
          </a:solidFill>
          <a:ln/>
        </p:spPr>
      </p:sp>
      <p:sp>
        <p:nvSpPr>
          <p:cNvPr id="33" name="Text 31"/>
          <p:cNvSpPr/>
          <p:nvPr/>
        </p:nvSpPr>
        <p:spPr>
          <a:xfrm>
            <a:off x="5166360" y="2258568"/>
            <a:ext cx="1051560" cy="694944"/>
          </a:xfrm>
          <a:prstGeom prst="rect">
            <a:avLst/>
          </a:prstGeom>
          <a:noFill/>
          <a:ln/>
        </p:spPr>
        <p:txBody>
          <a:bodyPr wrap="square" lIns="25400" tIns="25400" rIns="25400" bIns="25400" rtlCol="0" anchor="ctr"/>
          <a:lstStyle/>
          <a:p>
            <a:pPr marL="0" indent="0" algn="ctr">
              <a:buNone/>
            </a:pPr>
            <a:r>
              <a:rPr lang="en-US" sz="950" dirty="0">
                <a:solidFill>
                  <a:srgbClr val="374151"/>
                </a:solidFill>
                <a:latin typeface="Calibri" pitchFamily="34" charset="0"/>
                <a:ea typeface="Calibri" pitchFamily="34" charset="-122"/>
                <a:cs typeface="Calibri" pitchFamily="34" charset="-120"/>
              </a:rPr>
              <a:t>Compress skewed</a:t>
            </a:r>
            <a:endParaRPr lang="en-US" sz="950" dirty="0"/>
          </a:p>
          <a:p>
            <a:pPr marL="0" indent="0" algn="ctr">
              <a:buNone/>
            </a:pPr>
            <a:r>
              <a:rPr lang="en-US" sz="950" dirty="0">
                <a:solidFill>
                  <a:srgbClr val="374151"/>
                </a:solidFill>
                <a:latin typeface="Calibri" pitchFamily="34" charset="0"/>
                <a:ea typeface="Calibri" pitchFamily="34" charset="-122"/>
                <a:cs typeface="Calibri" pitchFamily="34" charset="-120"/>
              </a:rPr>
              <a:t>income target</a:t>
            </a:r>
            <a:endParaRPr lang="en-US" sz="950" dirty="0"/>
          </a:p>
        </p:txBody>
      </p:sp>
      <p:sp>
        <p:nvSpPr>
          <p:cNvPr id="34" name="Shape 32"/>
          <p:cNvSpPr/>
          <p:nvPr/>
        </p:nvSpPr>
        <p:spPr>
          <a:xfrm>
            <a:off x="6400800" y="1005840"/>
            <a:ext cx="1051560" cy="1051560"/>
          </a:xfrm>
          <a:prstGeom prst="rect">
            <a:avLst/>
          </a:prstGeom>
          <a:solidFill>
            <a:srgbClr val="2D6A4F"/>
          </a:solidFill>
          <a:ln/>
          <a:effectLst>
            <a:outerShdw blurRad="101600" dist="38100" dir="8100000" algn="bl" rotWithShape="0">
              <a:srgbClr val="000000">
                <a:alpha val="10000"/>
              </a:srgbClr>
            </a:outerShdw>
          </a:effectLst>
        </p:spPr>
      </p:sp>
      <p:sp>
        <p:nvSpPr>
          <p:cNvPr id="35" name="Text 33"/>
          <p:cNvSpPr/>
          <p:nvPr/>
        </p:nvSpPr>
        <p:spPr>
          <a:xfrm>
            <a:off x="6400800" y="1051560"/>
            <a:ext cx="105156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6</a:t>
            </a:r>
            <a:endParaRPr lang="en-US" sz="2200" dirty="0"/>
          </a:p>
        </p:txBody>
      </p:sp>
      <p:sp>
        <p:nvSpPr>
          <p:cNvPr id="36" name="Text 34"/>
          <p:cNvSpPr/>
          <p:nvPr/>
        </p:nvSpPr>
        <p:spPr>
          <a:xfrm>
            <a:off x="6400800" y="1463040"/>
            <a:ext cx="10515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Models</a:t>
            </a:r>
            <a:endParaRPr lang="en-US" sz="1000" dirty="0"/>
          </a:p>
        </p:txBody>
      </p:sp>
      <p:sp>
        <p:nvSpPr>
          <p:cNvPr id="37" name="Shape 35"/>
          <p:cNvSpPr/>
          <p:nvPr/>
        </p:nvSpPr>
        <p:spPr>
          <a:xfrm>
            <a:off x="7470648" y="1485900"/>
            <a:ext cx="146304" cy="0"/>
          </a:xfrm>
          <a:prstGeom prst="line">
            <a:avLst/>
          </a:prstGeom>
          <a:noFill/>
          <a:ln w="25400">
            <a:solidFill>
              <a:srgbClr val="52B788"/>
            </a:solidFill>
            <a:prstDash val="solid"/>
          </a:ln>
        </p:spPr>
      </p:sp>
      <p:sp>
        <p:nvSpPr>
          <p:cNvPr id="38" name="Shape 36"/>
          <p:cNvSpPr/>
          <p:nvPr/>
        </p:nvSpPr>
        <p:spPr>
          <a:xfrm>
            <a:off x="6400800" y="2240280"/>
            <a:ext cx="1051560" cy="731520"/>
          </a:xfrm>
          <a:prstGeom prst="rect">
            <a:avLst/>
          </a:prstGeom>
          <a:solidFill>
            <a:srgbClr val="F7F9F7"/>
          </a:solidFill>
          <a:ln/>
        </p:spPr>
      </p:sp>
      <p:sp>
        <p:nvSpPr>
          <p:cNvPr id="39" name="Text 37"/>
          <p:cNvSpPr/>
          <p:nvPr/>
        </p:nvSpPr>
        <p:spPr>
          <a:xfrm>
            <a:off x="6400800" y="2258568"/>
            <a:ext cx="1051560" cy="694944"/>
          </a:xfrm>
          <a:prstGeom prst="rect">
            <a:avLst/>
          </a:prstGeom>
          <a:noFill/>
          <a:ln/>
        </p:spPr>
        <p:txBody>
          <a:bodyPr wrap="square" lIns="25400" tIns="25400" rIns="25400" bIns="25400" rtlCol="0" anchor="ctr"/>
          <a:lstStyle/>
          <a:p>
            <a:pPr marL="0" indent="0" algn="ctr">
              <a:buNone/>
            </a:pPr>
            <a:r>
              <a:rPr lang="en-US" sz="950" dirty="0">
                <a:solidFill>
                  <a:srgbClr val="374151"/>
                </a:solidFill>
                <a:latin typeface="Calibri" pitchFamily="34" charset="0"/>
                <a:ea typeface="Calibri" pitchFamily="34" charset="-122"/>
                <a:cs typeface="Calibri" pitchFamily="34" charset="-120"/>
              </a:rPr>
              <a:t>RF, LGB, XGB</a:t>
            </a:r>
            <a:endParaRPr lang="en-US" sz="950" dirty="0"/>
          </a:p>
          <a:p>
            <a:pPr marL="0" indent="0" algn="ctr">
              <a:buNone/>
            </a:pPr>
            <a:r>
              <a:rPr lang="en-US" sz="950" dirty="0">
                <a:solidFill>
                  <a:srgbClr val="374151"/>
                </a:solidFill>
                <a:latin typeface="Calibri" pitchFamily="34" charset="0"/>
                <a:ea typeface="Calibri" pitchFamily="34" charset="-122"/>
                <a:cs typeface="Calibri" pitchFamily="34" charset="-120"/>
              </a:rPr>
              <a:t>+ CV tuning</a:t>
            </a:r>
            <a:endParaRPr lang="en-US" sz="950" dirty="0"/>
          </a:p>
        </p:txBody>
      </p:sp>
      <p:sp>
        <p:nvSpPr>
          <p:cNvPr id="40" name="Shape 38"/>
          <p:cNvSpPr/>
          <p:nvPr/>
        </p:nvSpPr>
        <p:spPr>
          <a:xfrm>
            <a:off x="7635240" y="1005840"/>
            <a:ext cx="1051560" cy="1051560"/>
          </a:xfrm>
          <a:prstGeom prst="rect">
            <a:avLst/>
          </a:prstGeom>
          <a:solidFill>
            <a:srgbClr val="C9963A"/>
          </a:solidFill>
          <a:ln/>
          <a:effectLst>
            <a:outerShdw blurRad="101600" dist="38100" dir="8100000" algn="bl" rotWithShape="0">
              <a:srgbClr val="000000">
                <a:alpha val="10000"/>
              </a:srgbClr>
            </a:outerShdw>
          </a:effectLst>
        </p:spPr>
      </p:sp>
      <p:sp>
        <p:nvSpPr>
          <p:cNvPr id="41" name="Text 39"/>
          <p:cNvSpPr/>
          <p:nvPr/>
        </p:nvSpPr>
        <p:spPr>
          <a:xfrm>
            <a:off x="7635240" y="1051560"/>
            <a:ext cx="1051560" cy="4114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7</a:t>
            </a:r>
            <a:endParaRPr lang="en-US" sz="2200" dirty="0"/>
          </a:p>
        </p:txBody>
      </p:sp>
      <p:sp>
        <p:nvSpPr>
          <p:cNvPr id="42" name="Text 40"/>
          <p:cNvSpPr/>
          <p:nvPr/>
        </p:nvSpPr>
        <p:spPr>
          <a:xfrm>
            <a:off x="7635240" y="1463040"/>
            <a:ext cx="105156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Ensemble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&amp; Submit</a:t>
            </a:r>
            <a:endParaRPr lang="en-US" sz="1000" dirty="0"/>
          </a:p>
        </p:txBody>
      </p:sp>
      <p:sp>
        <p:nvSpPr>
          <p:cNvPr id="43" name="Shape 41"/>
          <p:cNvSpPr/>
          <p:nvPr/>
        </p:nvSpPr>
        <p:spPr>
          <a:xfrm>
            <a:off x="7635240" y="2240280"/>
            <a:ext cx="1051560" cy="731520"/>
          </a:xfrm>
          <a:prstGeom prst="rect">
            <a:avLst/>
          </a:prstGeom>
          <a:solidFill>
            <a:srgbClr val="F7F9F7"/>
          </a:solidFill>
          <a:ln/>
        </p:spPr>
      </p:sp>
      <p:sp>
        <p:nvSpPr>
          <p:cNvPr id="44" name="Text 42"/>
          <p:cNvSpPr/>
          <p:nvPr/>
        </p:nvSpPr>
        <p:spPr>
          <a:xfrm>
            <a:off x="7635240" y="2258568"/>
            <a:ext cx="1051560" cy="694944"/>
          </a:xfrm>
          <a:prstGeom prst="rect">
            <a:avLst/>
          </a:prstGeom>
          <a:noFill/>
          <a:ln/>
        </p:spPr>
        <p:txBody>
          <a:bodyPr wrap="square" lIns="25400" tIns="25400" rIns="25400" bIns="25400" rtlCol="0" anchor="ctr"/>
          <a:lstStyle/>
          <a:p>
            <a:pPr marL="0" indent="0" algn="ctr">
              <a:buNone/>
            </a:pPr>
            <a:r>
              <a:rPr lang="en-US" sz="950" dirty="0">
                <a:solidFill>
                  <a:srgbClr val="374151"/>
                </a:solidFill>
                <a:latin typeface="Calibri" pitchFamily="34" charset="0"/>
                <a:ea typeface="Calibri" pitchFamily="34" charset="-122"/>
                <a:cs typeface="Calibri" pitchFamily="34" charset="-120"/>
              </a:rPr>
              <a:t>Weighted blend</a:t>
            </a:r>
            <a:endParaRPr lang="en-US" sz="950" dirty="0"/>
          </a:p>
          <a:p>
            <a:pPr marL="0" indent="0" algn="ctr">
              <a:buNone/>
            </a:pPr>
            <a:r>
              <a:rPr lang="en-US" sz="950" dirty="0">
                <a:solidFill>
                  <a:srgbClr val="374151"/>
                </a:solidFill>
                <a:latin typeface="Calibri" pitchFamily="34" charset="0"/>
                <a:ea typeface="Calibri" pitchFamily="34" charset="-122"/>
                <a:cs typeface="Calibri" pitchFamily="34" charset="-120"/>
              </a:rPr>
              <a:t>→ predictions.csv</a:t>
            </a:r>
            <a:endParaRPr lang="en-US" sz="950" dirty="0"/>
          </a:p>
        </p:txBody>
      </p:sp>
      <p:sp>
        <p:nvSpPr>
          <p:cNvPr id="45" name="Shape 43"/>
          <p:cNvSpPr/>
          <p:nvPr/>
        </p:nvSpPr>
        <p:spPr>
          <a:xfrm>
            <a:off x="365760" y="3246120"/>
            <a:ext cx="8412480" cy="1508760"/>
          </a:xfrm>
          <a:prstGeom prst="rect">
            <a:avLst/>
          </a:prstGeom>
          <a:solidFill>
            <a:srgbClr val="1B4332"/>
          </a:solidFill>
          <a:ln/>
        </p:spPr>
      </p:sp>
      <p:sp>
        <p:nvSpPr>
          <p:cNvPr id="46" name="Text 44"/>
          <p:cNvSpPr/>
          <p:nvPr/>
        </p:nvSpPr>
        <p:spPr>
          <a:xfrm>
            <a:off x="502920" y="3337560"/>
            <a:ext cx="3657600" cy="320040"/>
          </a:xfrm>
          <a:prstGeom prst="rect">
            <a:avLst/>
          </a:prstGeom>
          <a:noFill/>
          <a:ln/>
        </p:spPr>
        <p:txBody>
          <a:bodyPr wrap="square" lIns="0" tIns="0" rIns="0" bIns="0" rtlCol="0" anchor="ctr"/>
          <a:lstStyle/>
          <a:p>
            <a:pPr marL="0" indent="0">
              <a:buNone/>
            </a:pPr>
            <a:r>
              <a:rPr lang="en-US" sz="1200" b="1" dirty="0">
                <a:solidFill>
                  <a:srgbClr val="52B788"/>
                </a:solidFill>
                <a:latin typeface="Georgia" pitchFamily="34" charset="0"/>
                <a:ea typeface="Georgia" pitchFamily="34" charset="-122"/>
                <a:cs typeface="Georgia" pitchFamily="34" charset="-120"/>
              </a:rPr>
              <a:t>How the Data is Split</a:t>
            </a:r>
            <a:endParaRPr lang="en-US" sz="1200" dirty="0"/>
          </a:p>
        </p:txBody>
      </p:sp>
      <p:sp>
        <p:nvSpPr>
          <p:cNvPr id="47" name="Shape 45"/>
          <p:cNvSpPr/>
          <p:nvPr/>
        </p:nvSpPr>
        <p:spPr>
          <a:xfrm>
            <a:off x="502920" y="3749040"/>
            <a:ext cx="4206240" cy="548640"/>
          </a:xfrm>
          <a:prstGeom prst="rect">
            <a:avLst/>
          </a:prstGeom>
          <a:solidFill>
            <a:srgbClr val="2D6A4F"/>
          </a:solidFill>
          <a:ln/>
        </p:spPr>
      </p:sp>
      <p:sp>
        <p:nvSpPr>
          <p:cNvPr id="48" name="Text 46"/>
          <p:cNvSpPr/>
          <p:nvPr/>
        </p:nvSpPr>
        <p:spPr>
          <a:xfrm>
            <a:off x="502920" y="3749040"/>
            <a:ext cx="4206240" cy="548640"/>
          </a:xfrm>
          <a:prstGeom prst="rect">
            <a:avLst/>
          </a:prstGeom>
          <a:noFill/>
          <a:ln/>
        </p:spPr>
        <p:txBody>
          <a:bodyPr wrap="square" lIns="38100" tIns="38100" rIns="38100" bIns="3810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Training Split  (80% - 34,538 rows)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Model learns from this data</a:t>
            </a:r>
            <a:endParaRPr lang="en-US" sz="1100" dirty="0"/>
          </a:p>
        </p:txBody>
      </p:sp>
      <p:sp>
        <p:nvSpPr>
          <p:cNvPr id="49" name="Shape 47"/>
          <p:cNvSpPr/>
          <p:nvPr/>
        </p:nvSpPr>
        <p:spPr>
          <a:xfrm>
            <a:off x="4892040" y="3749040"/>
            <a:ext cx="1920240" cy="548640"/>
          </a:xfrm>
          <a:prstGeom prst="rect">
            <a:avLst/>
          </a:prstGeom>
          <a:solidFill>
            <a:srgbClr val="C9963A"/>
          </a:solidFill>
          <a:ln/>
        </p:spPr>
      </p:sp>
      <p:sp>
        <p:nvSpPr>
          <p:cNvPr id="50" name="Text 48"/>
          <p:cNvSpPr/>
          <p:nvPr/>
        </p:nvSpPr>
        <p:spPr>
          <a:xfrm>
            <a:off x="4892040" y="3749040"/>
            <a:ext cx="1920240" cy="548640"/>
          </a:xfrm>
          <a:prstGeom prst="rect">
            <a:avLst/>
          </a:prstGeom>
          <a:no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Validation (20%)</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We test ourselves here</a:t>
            </a:r>
            <a:endParaRPr lang="en-US" sz="1000" dirty="0"/>
          </a:p>
        </p:txBody>
      </p:sp>
      <p:sp>
        <p:nvSpPr>
          <p:cNvPr id="51" name="Shape 49"/>
          <p:cNvSpPr/>
          <p:nvPr/>
        </p:nvSpPr>
        <p:spPr>
          <a:xfrm>
            <a:off x="6949440" y="3749040"/>
            <a:ext cx="1737360" cy="548640"/>
          </a:xfrm>
          <a:prstGeom prst="rect">
            <a:avLst/>
          </a:prstGeom>
          <a:solidFill>
            <a:srgbClr val="6B7280"/>
          </a:solidFill>
          <a:ln/>
        </p:spPr>
      </p:sp>
      <p:sp>
        <p:nvSpPr>
          <p:cNvPr id="52" name="Text 50"/>
          <p:cNvSpPr/>
          <p:nvPr/>
        </p:nvSpPr>
        <p:spPr>
          <a:xfrm>
            <a:off x="6949440" y="3749040"/>
            <a:ext cx="1737360" cy="548640"/>
          </a:xfrm>
          <a:prstGeom prst="rect">
            <a:avLst/>
          </a:prstGeom>
          <a:noFill/>
          <a:ln/>
        </p:spPr>
        <p:txBody>
          <a:bodyPr wrap="square" lIns="38100" tIns="38100" rIns="38100" bIns="3810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Test Set</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Final submission</a:t>
            </a:r>
            <a:endParaRPr lang="en-US" sz="1000" dirty="0"/>
          </a:p>
        </p:txBody>
      </p:sp>
      <p:sp>
        <p:nvSpPr>
          <p:cNvPr id="53" name="Text 51"/>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03</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Data Encoding</a:t>
            </a:r>
            <a:endParaRPr lang="en-US" sz="2600" dirty="0"/>
          </a:p>
        </p:txBody>
      </p:sp>
      <p:sp>
        <p:nvSpPr>
          <p:cNvPr id="4" name="Text 2"/>
          <p:cNvSpPr/>
          <p:nvPr/>
        </p:nvSpPr>
        <p:spPr>
          <a:xfrm>
            <a:off x="365760" y="914400"/>
            <a:ext cx="8412480" cy="320040"/>
          </a:xfrm>
          <a:prstGeom prst="rect">
            <a:avLst/>
          </a:prstGeom>
          <a:noFill/>
          <a:ln/>
        </p:spPr>
        <p:txBody>
          <a:bodyPr wrap="square" lIns="0" tIns="0" rIns="0" bIns="0" rtlCol="0" anchor="ctr"/>
          <a:lstStyle/>
          <a:p>
            <a:pPr marL="0" indent="0">
              <a:buNone/>
            </a:pPr>
            <a:r>
              <a:rPr lang="en-US" sz="1300" dirty="0">
                <a:solidFill>
                  <a:srgbClr val="374151"/>
                </a:solidFill>
                <a:latin typeface="Calibri" pitchFamily="34" charset="0"/>
                <a:ea typeface="Calibri" pitchFamily="34" charset="-122"/>
                <a:cs typeface="Calibri" pitchFamily="34" charset="-120"/>
              </a:rPr>
              <a:t>ML models only understand numbers. Every column must be converted before training.</a:t>
            </a:r>
            <a:endParaRPr lang="en-US" sz="1300" dirty="0"/>
          </a:p>
        </p:txBody>
      </p:sp>
      <p:sp>
        <p:nvSpPr>
          <p:cNvPr id="5" name="Shape 3"/>
          <p:cNvSpPr/>
          <p:nvPr/>
        </p:nvSpPr>
        <p:spPr>
          <a:xfrm>
            <a:off x="365760" y="1371600"/>
            <a:ext cx="4160520" cy="1463040"/>
          </a:xfrm>
          <a:prstGeom prst="rect">
            <a:avLst/>
          </a:prstGeom>
          <a:solidFill>
            <a:srgbClr val="F7F9F7"/>
          </a:solidFill>
          <a:ln/>
          <a:effectLst>
            <a:outerShdw blurRad="101600" dist="38100" dir="8100000" algn="bl" rotWithShape="0">
              <a:srgbClr val="000000">
                <a:alpha val="10000"/>
              </a:srgbClr>
            </a:outerShdw>
          </a:effectLst>
        </p:spPr>
      </p:sp>
      <p:sp>
        <p:nvSpPr>
          <p:cNvPr id="6" name="Shape 4"/>
          <p:cNvSpPr/>
          <p:nvPr/>
        </p:nvSpPr>
        <p:spPr>
          <a:xfrm>
            <a:off x="365760" y="1371600"/>
            <a:ext cx="64008" cy="1463040"/>
          </a:xfrm>
          <a:prstGeom prst="rect">
            <a:avLst/>
          </a:prstGeom>
          <a:solidFill>
            <a:srgbClr val="2D6A4F"/>
          </a:solidFill>
          <a:ln/>
        </p:spPr>
      </p:sp>
      <p:sp>
        <p:nvSpPr>
          <p:cNvPr id="7" name="Text 5"/>
          <p:cNvSpPr/>
          <p:nvPr/>
        </p:nvSpPr>
        <p:spPr>
          <a:xfrm>
            <a:off x="521208" y="1463040"/>
            <a:ext cx="3840480" cy="292608"/>
          </a:xfrm>
          <a:prstGeom prst="rect">
            <a:avLst/>
          </a:prstGeom>
          <a:noFill/>
          <a:ln/>
        </p:spPr>
        <p:txBody>
          <a:bodyPr wrap="square" lIns="0" tIns="0" rIns="0" bIns="0" rtlCol="0" anchor="ctr"/>
          <a:lstStyle/>
          <a:p>
            <a:pPr marL="0" indent="0">
              <a:buNone/>
            </a:pPr>
            <a:r>
              <a:rPr lang="en-US" sz="1200" b="1" dirty="0">
                <a:solidFill>
                  <a:srgbClr val="1B4332"/>
                </a:solidFill>
                <a:latin typeface="Georgia" pitchFamily="34" charset="0"/>
                <a:ea typeface="Georgia" pitchFamily="34" charset="-122"/>
                <a:cs typeface="Georgia" pitchFamily="34" charset="-120"/>
              </a:rPr>
              <a:t>Temperature Columns</a:t>
            </a:r>
            <a:endParaRPr lang="en-US" sz="1200" dirty="0"/>
          </a:p>
        </p:txBody>
      </p:sp>
      <p:sp>
        <p:nvSpPr>
          <p:cNvPr id="8" name="Shape 6"/>
          <p:cNvSpPr/>
          <p:nvPr/>
        </p:nvSpPr>
        <p:spPr>
          <a:xfrm>
            <a:off x="521208" y="1801368"/>
            <a:ext cx="3840480" cy="292608"/>
          </a:xfrm>
          <a:prstGeom prst="rect">
            <a:avLst/>
          </a:prstGeom>
          <a:solidFill>
            <a:srgbClr val="1E2029"/>
          </a:solidFill>
          <a:ln/>
        </p:spPr>
      </p:sp>
      <p:sp>
        <p:nvSpPr>
          <p:cNvPr id="9" name="Text 7"/>
          <p:cNvSpPr/>
          <p:nvPr/>
        </p:nvSpPr>
        <p:spPr>
          <a:xfrm>
            <a:off x="521208" y="1801368"/>
            <a:ext cx="3840480" cy="292608"/>
          </a:xfrm>
          <a:prstGeom prst="rect">
            <a:avLst/>
          </a:prstGeom>
          <a:noFill/>
          <a:ln/>
        </p:spPr>
        <p:txBody>
          <a:bodyPr wrap="square" lIns="38100" tIns="38100" rIns="38100" bIns="38100" rtlCol="0" anchor="ctr"/>
          <a:lstStyle/>
          <a:p>
            <a:pPr marL="0" indent="0">
              <a:buNone/>
            </a:pPr>
            <a:r>
              <a:rPr lang="en-US" sz="950" dirty="0">
                <a:solidFill>
                  <a:srgbClr val="98C379"/>
                </a:solidFill>
                <a:latin typeface="Courier New" pitchFamily="34" charset="0"/>
                <a:ea typeface="Courier New" pitchFamily="34" charset="-122"/>
                <a:cs typeface="Courier New" pitchFamily="34" charset="-120"/>
              </a:rPr>
              <a:t>"18/34"  →  col__min = 18,  col__max = 34</a:t>
            </a:r>
            <a:endParaRPr lang="en-US" sz="950" dirty="0"/>
          </a:p>
        </p:txBody>
      </p:sp>
      <p:sp>
        <p:nvSpPr>
          <p:cNvPr id="10" name="Text 8"/>
          <p:cNvSpPr/>
          <p:nvPr/>
        </p:nvSpPr>
        <p:spPr>
          <a:xfrm>
            <a:off x="521208" y="2148840"/>
            <a:ext cx="3840480" cy="594360"/>
          </a:xfrm>
          <a:prstGeom prst="rect">
            <a:avLst/>
          </a:prstGeom>
          <a:noFill/>
          <a:ln/>
        </p:spPr>
        <p:txBody>
          <a:bodyPr wrap="square" lIns="25400" tIns="25400" rIns="25400" bIns="2540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Stored as "min/max" strings. Split into two separate numeric columns so the model can use both independently.</a:t>
            </a:r>
            <a:endParaRPr lang="en-US" sz="1100" dirty="0"/>
          </a:p>
        </p:txBody>
      </p:sp>
      <p:sp>
        <p:nvSpPr>
          <p:cNvPr id="11" name="Shape 9"/>
          <p:cNvSpPr/>
          <p:nvPr/>
        </p:nvSpPr>
        <p:spPr>
          <a:xfrm>
            <a:off x="4800600" y="1371600"/>
            <a:ext cx="4160520" cy="1463040"/>
          </a:xfrm>
          <a:prstGeom prst="rect">
            <a:avLst/>
          </a:prstGeom>
          <a:solidFill>
            <a:srgbClr val="F7F9F7"/>
          </a:solidFill>
          <a:ln/>
          <a:effectLst>
            <a:outerShdw blurRad="101600" dist="38100" dir="8100000" algn="bl" rotWithShape="0">
              <a:srgbClr val="000000">
                <a:alpha val="10000"/>
              </a:srgbClr>
            </a:outerShdw>
          </a:effectLst>
        </p:spPr>
      </p:sp>
      <p:sp>
        <p:nvSpPr>
          <p:cNvPr id="12" name="Shape 10"/>
          <p:cNvSpPr/>
          <p:nvPr/>
        </p:nvSpPr>
        <p:spPr>
          <a:xfrm>
            <a:off x="4800600" y="1371600"/>
            <a:ext cx="64008" cy="1463040"/>
          </a:xfrm>
          <a:prstGeom prst="rect">
            <a:avLst/>
          </a:prstGeom>
          <a:solidFill>
            <a:srgbClr val="2D6A4F"/>
          </a:solidFill>
          <a:ln/>
        </p:spPr>
      </p:sp>
      <p:sp>
        <p:nvSpPr>
          <p:cNvPr id="13" name="Text 11"/>
          <p:cNvSpPr/>
          <p:nvPr/>
        </p:nvSpPr>
        <p:spPr>
          <a:xfrm>
            <a:off x="4956048" y="1463040"/>
            <a:ext cx="3840480" cy="292608"/>
          </a:xfrm>
          <a:prstGeom prst="rect">
            <a:avLst/>
          </a:prstGeom>
          <a:noFill/>
          <a:ln/>
        </p:spPr>
        <p:txBody>
          <a:bodyPr wrap="square" lIns="0" tIns="0" rIns="0" bIns="0" rtlCol="0" anchor="ctr"/>
          <a:lstStyle/>
          <a:p>
            <a:pPr marL="0" indent="0">
              <a:buNone/>
            </a:pPr>
            <a:r>
              <a:rPr lang="en-US" sz="1200" b="1" dirty="0">
                <a:solidFill>
                  <a:srgbClr val="1B4332"/>
                </a:solidFill>
                <a:latin typeface="Georgia" pitchFamily="34" charset="0"/>
                <a:ea typeface="Georgia" pitchFamily="34" charset="-122"/>
                <a:cs typeface="Georgia" pitchFamily="34" charset="-120"/>
              </a:rPr>
              <a:t>Location Column</a:t>
            </a:r>
            <a:endParaRPr lang="en-US" sz="1200" dirty="0"/>
          </a:p>
        </p:txBody>
      </p:sp>
      <p:sp>
        <p:nvSpPr>
          <p:cNvPr id="14" name="Shape 12"/>
          <p:cNvSpPr/>
          <p:nvPr/>
        </p:nvSpPr>
        <p:spPr>
          <a:xfrm>
            <a:off x="4956048" y="1801368"/>
            <a:ext cx="3840480" cy="292608"/>
          </a:xfrm>
          <a:prstGeom prst="rect">
            <a:avLst/>
          </a:prstGeom>
          <a:solidFill>
            <a:srgbClr val="1E2029"/>
          </a:solidFill>
          <a:ln/>
        </p:spPr>
      </p:sp>
      <p:sp>
        <p:nvSpPr>
          <p:cNvPr id="15" name="Text 13"/>
          <p:cNvSpPr/>
          <p:nvPr/>
        </p:nvSpPr>
        <p:spPr>
          <a:xfrm>
            <a:off x="4956048" y="1801368"/>
            <a:ext cx="3840480" cy="292608"/>
          </a:xfrm>
          <a:prstGeom prst="rect">
            <a:avLst/>
          </a:prstGeom>
          <a:noFill/>
          <a:ln/>
        </p:spPr>
        <p:txBody>
          <a:bodyPr wrap="square" lIns="38100" tIns="38100" rIns="38100" bIns="38100" rtlCol="0" anchor="ctr"/>
          <a:lstStyle/>
          <a:p>
            <a:pPr marL="0" indent="0">
              <a:buNone/>
            </a:pPr>
            <a:r>
              <a:rPr lang="en-US" sz="950" dirty="0">
                <a:solidFill>
                  <a:srgbClr val="98C379"/>
                </a:solidFill>
                <a:latin typeface="Courier New" pitchFamily="34" charset="0"/>
                <a:ea typeface="Courier New" pitchFamily="34" charset="-122"/>
                <a:cs typeface="Courier New" pitchFamily="34" charset="-120"/>
              </a:rPr>
              <a:t>"28.6, 77.2"  →  Location__lat,  Location__lon</a:t>
            </a:r>
            <a:endParaRPr lang="en-US" sz="950" dirty="0"/>
          </a:p>
        </p:txBody>
      </p:sp>
      <p:sp>
        <p:nvSpPr>
          <p:cNvPr id="16" name="Text 14"/>
          <p:cNvSpPr/>
          <p:nvPr/>
        </p:nvSpPr>
        <p:spPr>
          <a:xfrm>
            <a:off x="4956048" y="2148840"/>
            <a:ext cx="3840480" cy="594360"/>
          </a:xfrm>
          <a:prstGeom prst="rect">
            <a:avLst/>
          </a:prstGeom>
          <a:noFill/>
          <a:ln/>
        </p:spPr>
        <p:txBody>
          <a:bodyPr wrap="square" lIns="25400" tIns="25400" rIns="25400" bIns="2540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Latitude and longitude combined in one string. Split so the model can learn geographic patterns from each coordinate.</a:t>
            </a:r>
            <a:endParaRPr lang="en-US" sz="1100" dirty="0"/>
          </a:p>
        </p:txBody>
      </p:sp>
      <p:sp>
        <p:nvSpPr>
          <p:cNvPr id="17" name="Shape 15"/>
          <p:cNvSpPr/>
          <p:nvPr/>
        </p:nvSpPr>
        <p:spPr>
          <a:xfrm>
            <a:off x="365760" y="3017520"/>
            <a:ext cx="4160520" cy="1463040"/>
          </a:xfrm>
          <a:prstGeom prst="rect">
            <a:avLst/>
          </a:prstGeom>
          <a:solidFill>
            <a:srgbClr val="F7F9F7"/>
          </a:solidFill>
          <a:ln/>
          <a:effectLst>
            <a:outerShdw blurRad="101600" dist="38100" dir="8100000" algn="bl" rotWithShape="0">
              <a:srgbClr val="000000">
                <a:alpha val="10000"/>
              </a:srgbClr>
            </a:outerShdw>
          </a:effectLst>
        </p:spPr>
      </p:sp>
      <p:sp>
        <p:nvSpPr>
          <p:cNvPr id="18" name="Shape 16"/>
          <p:cNvSpPr/>
          <p:nvPr/>
        </p:nvSpPr>
        <p:spPr>
          <a:xfrm>
            <a:off x="365760" y="3017520"/>
            <a:ext cx="64008" cy="1463040"/>
          </a:xfrm>
          <a:prstGeom prst="rect">
            <a:avLst/>
          </a:prstGeom>
          <a:solidFill>
            <a:srgbClr val="2D6A4F"/>
          </a:solidFill>
          <a:ln/>
        </p:spPr>
      </p:sp>
      <p:sp>
        <p:nvSpPr>
          <p:cNvPr id="19" name="Text 17"/>
          <p:cNvSpPr/>
          <p:nvPr/>
        </p:nvSpPr>
        <p:spPr>
          <a:xfrm>
            <a:off x="521208" y="3108960"/>
            <a:ext cx="3840480" cy="292608"/>
          </a:xfrm>
          <a:prstGeom prst="rect">
            <a:avLst/>
          </a:prstGeom>
          <a:noFill/>
          <a:ln/>
        </p:spPr>
        <p:txBody>
          <a:bodyPr wrap="square" lIns="0" tIns="0" rIns="0" bIns="0" rtlCol="0" anchor="ctr"/>
          <a:lstStyle/>
          <a:p>
            <a:pPr marL="0" indent="0">
              <a:buNone/>
            </a:pPr>
            <a:r>
              <a:rPr lang="en-US" sz="1200" b="1" dirty="0">
                <a:solidFill>
                  <a:srgbClr val="1B4332"/>
                </a:solidFill>
                <a:latin typeface="Georgia" pitchFamily="34" charset="0"/>
                <a:ea typeface="Georgia" pitchFamily="34" charset="-122"/>
                <a:cs typeface="Georgia" pitchFamily="34" charset="-120"/>
              </a:rPr>
              <a:t>Categorical Text</a:t>
            </a:r>
            <a:endParaRPr lang="en-US" sz="1200" dirty="0"/>
          </a:p>
        </p:txBody>
      </p:sp>
      <p:sp>
        <p:nvSpPr>
          <p:cNvPr id="20" name="Shape 18"/>
          <p:cNvSpPr/>
          <p:nvPr/>
        </p:nvSpPr>
        <p:spPr>
          <a:xfrm>
            <a:off x="521208" y="3447288"/>
            <a:ext cx="3840480" cy="292608"/>
          </a:xfrm>
          <a:prstGeom prst="rect">
            <a:avLst/>
          </a:prstGeom>
          <a:solidFill>
            <a:srgbClr val="1E2029"/>
          </a:solidFill>
          <a:ln/>
        </p:spPr>
      </p:sp>
      <p:sp>
        <p:nvSpPr>
          <p:cNvPr id="21" name="Text 19"/>
          <p:cNvSpPr/>
          <p:nvPr/>
        </p:nvSpPr>
        <p:spPr>
          <a:xfrm>
            <a:off x="521208" y="3447288"/>
            <a:ext cx="3840480" cy="292608"/>
          </a:xfrm>
          <a:prstGeom prst="rect">
            <a:avLst/>
          </a:prstGeom>
          <a:noFill/>
          <a:ln/>
        </p:spPr>
        <p:txBody>
          <a:bodyPr wrap="square" lIns="38100" tIns="38100" rIns="38100" bIns="38100" rtlCol="0" anchor="ctr"/>
          <a:lstStyle/>
          <a:p>
            <a:pPr marL="0" indent="0">
              <a:buNone/>
            </a:pPr>
            <a:r>
              <a:rPr lang="en-US" sz="950" dirty="0">
                <a:solidFill>
                  <a:srgbClr val="98C379"/>
                </a:solidFill>
                <a:latin typeface="Courier New" pitchFamily="34" charset="0"/>
                <a:ea typeface="Courier New" pitchFamily="34" charset="-122"/>
                <a:cs typeface="Courier New" pitchFamily="34" charset="-120"/>
              </a:rPr>
              <a:t>"Haryana" → 3,  "Bihar" → 1  (Label Encoding)</a:t>
            </a:r>
            <a:endParaRPr lang="en-US" sz="950" dirty="0"/>
          </a:p>
        </p:txBody>
      </p:sp>
      <p:sp>
        <p:nvSpPr>
          <p:cNvPr id="22" name="Text 20"/>
          <p:cNvSpPr/>
          <p:nvPr/>
        </p:nvSpPr>
        <p:spPr>
          <a:xfrm>
            <a:off x="521208" y="3794760"/>
            <a:ext cx="3840480" cy="594360"/>
          </a:xfrm>
          <a:prstGeom prst="rect">
            <a:avLst/>
          </a:prstGeom>
          <a:noFill/>
          <a:ln/>
        </p:spPr>
        <p:txBody>
          <a:bodyPr wrap="square" lIns="25400" tIns="25400" rIns="25400" bIns="2540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State names, soil types, crop types converted to numbers. Encoder fitted only on training data to prevent leakage.</a:t>
            </a:r>
            <a:endParaRPr lang="en-US" sz="1100" dirty="0"/>
          </a:p>
        </p:txBody>
      </p:sp>
      <p:sp>
        <p:nvSpPr>
          <p:cNvPr id="23" name="Shape 21"/>
          <p:cNvSpPr/>
          <p:nvPr/>
        </p:nvSpPr>
        <p:spPr>
          <a:xfrm>
            <a:off x="4800600" y="3017520"/>
            <a:ext cx="4160520" cy="1463040"/>
          </a:xfrm>
          <a:prstGeom prst="rect">
            <a:avLst/>
          </a:prstGeom>
          <a:solidFill>
            <a:srgbClr val="F7F9F7"/>
          </a:solidFill>
          <a:ln/>
          <a:effectLst>
            <a:outerShdw blurRad="101600" dist="38100" dir="8100000" algn="bl" rotWithShape="0">
              <a:srgbClr val="000000">
                <a:alpha val="10000"/>
              </a:srgbClr>
            </a:outerShdw>
          </a:effectLst>
        </p:spPr>
      </p:sp>
      <p:sp>
        <p:nvSpPr>
          <p:cNvPr id="24" name="Shape 22"/>
          <p:cNvSpPr/>
          <p:nvPr/>
        </p:nvSpPr>
        <p:spPr>
          <a:xfrm>
            <a:off x="4800600" y="3017520"/>
            <a:ext cx="64008" cy="1463040"/>
          </a:xfrm>
          <a:prstGeom prst="rect">
            <a:avLst/>
          </a:prstGeom>
          <a:solidFill>
            <a:srgbClr val="2D6A4F"/>
          </a:solidFill>
          <a:ln/>
        </p:spPr>
      </p:sp>
      <p:sp>
        <p:nvSpPr>
          <p:cNvPr id="25" name="Text 23"/>
          <p:cNvSpPr/>
          <p:nvPr/>
        </p:nvSpPr>
        <p:spPr>
          <a:xfrm>
            <a:off x="4956048" y="3108960"/>
            <a:ext cx="3840480" cy="292608"/>
          </a:xfrm>
          <a:prstGeom prst="rect">
            <a:avLst/>
          </a:prstGeom>
          <a:noFill/>
          <a:ln/>
        </p:spPr>
        <p:txBody>
          <a:bodyPr wrap="square" lIns="0" tIns="0" rIns="0" bIns="0" rtlCol="0" anchor="ctr"/>
          <a:lstStyle/>
          <a:p>
            <a:pPr marL="0" indent="0">
              <a:buNone/>
            </a:pPr>
            <a:r>
              <a:rPr lang="en-US" sz="1200" b="1" dirty="0">
                <a:solidFill>
                  <a:srgbClr val="1B4332"/>
                </a:solidFill>
                <a:latin typeface="Georgia" pitchFamily="34" charset="0"/>
                <a:ea typeface="Georgia" pitchFamily="34" charset="-122"/>
                <a:cs typeface="Georgia" pitchFamily="34" charset="-120"/>
              </a:rPr>
              <a:t>Missing Values</a:t>
            </a:r>
            <a:endParaRPr lang="en-US" sz="1200" dirty="0"/>
          </a:p>
        </p:txBody>
      </p:sp>
      <p:sp>
        <p:nvSpPr>
          <p:cNvPr id="26" name="Shape 24"/>
          <p:cNvSpPr/>
          <p:nvPr/>
        </p:nvSpPr>
        <p:spPr>
          <a:xfrm>
            <a:off x="4956048" y="3447288"/>
            <a:ext cx="3840480" cy="292608"/>
          </a:xfrm>
          <a:prstGeom prst="rect">
            <a:avLst/>
          </a:prstGeom>
          <a:solidFill>
            <a:srgbClr val="1E2029"/>
          </a:solidFill>
          <a:ln/>
        </p:spPr>
      </p:sp>
      <p:sp>
        <p:nvSpPr>
          <p:cNvPr id="27" name="Text 25"/>
          <p:cNvSpPr/>
          <p:nvPr/>
        </p:nvSpPr>
        <p:spPr>
          <a:xfrm>
            <a:off x="4956048" y="3447288"/>
            <a:ext cx="3840480" cy="292608"/>
          </a:xfrm>
          <a:prstGeom prst="rect">
            <a:avLst/>
          </a:prstGeom>
          <a:noFill/>
          <a:ln/>
        </p:spPr>
        <p:txBody>
          <a:bodyPr wrap="square" lIns="38100" tIns="38100" rIns="38100" bIns="38100" rtlCol="0" anchor="ctr"/>
          <a:lstStyle/>
          <a:p>
            <a:pPr marL="0" indent="0">
              <a:buNone/>
            </a:pPr>
            <a:r>
              <a:rPr lang="en-US" sz="950" dirty="0">
                <a:solidFill>
                  <a:srgbClr val="98C379"/>
                </a:solidFill>
                <a:latin typeface="Courier New" pitchFamily="34" charset="0"/>
                <a:ea typeface="Courier New" pitchFamily="34" charset="-122"/>
                <a:cs typeface="Courier New" pitchFamily="34" charset="-120"/>
              </a:rPr>
              <a:t>Filled with median — computed on training set only</a:t>
            </a:r>
            <a:endParaRPr lang="en-US" sz="950" dirty="0"/>
          </a:p>
        </p:txBody>
      </p:sp>
      <p:sp>
        <p:nvSpPr>
          <p:cNvPr id="28" name="Text 26"/>
          <p:cNvSpPr/>
          <p:nvPr/>
        </p:nvSpPr>
        <p:spPr>
          <a:xfrm>
            <a:off x="4956048" y="3794760"/>
            <a:ext cx="3840480" cy="594360"/>
          </a:xfrm>
          <a:prstGeom prst="rect">
            <a:avLst/>
          </a:prstGeom>
          <a:noFill/>
          <a:ln/>
        </p:spPr>
        <p:txBody>
          <a:bodyPr wrap="square" lIns="25400" tIns="25400" rIns="25400" bIns="2540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Numeric columns with blanks are filled using the training median. No validation or test data influences this value.</a:t>
            </a:r>
            <a:endParaRPr lang="en-US" sz="1100" dirty="0"/>
          </a:p>
        </p:txBody>
      </p:sp>
      <p:sp>
        <p:nvSpPr>
          <p:cNvPr id="29" name="Text 27"/>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04</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Feature Engineering</a:t>
            </a:r>
            <a:endParaRPr lang="en-US" sz="2600" dirty="0"/>
          </a:p>
        </p:txBody>
      </p:sp>
      <p:sp>
        <p:nvSpPr>
          <p:cNvPr id="4" name="Text 2"/>
          <p:cNvSpPr/>
          <p:nvPr/>
        </p:nvSpPr>
        <p:spPr>
          <a:xfrm>
            <a:off x="365760" y="896112"/>
            <a:ext cx="8412480" cy="320040"/>
          </a:xfrm>
          <a:prstGeom prst="rect">
            <a:avLst/>
          </a:prstGeom>
          <a:noFill/>
          <a:ln/>
        </p:spPr>
        <p:txBody>
          <a:bodyPr wrap="square" lIns="0" tIns="0" rIns="0" bIns="0" rtlCol="0" anchor="ctr"/>
          <a:lstStyle/>
          <a:p>
            <a:pPr marL="0" indent="0">
              <a:buNone/>
            </a:pPr>
            <a:r>
              <a:rPr lang="en-US" sz="1250" dirty="0">
                <a:solidFill>
                  <a:srgbClr val="374151"/>
                </a:solidFill>
                <a:latin typeface="Calibri" pitchFamily="34" charset="0"/>
                <a:ea typeface="Calibri" pitchFamily="34" charset="-122"/>
                <a:cs typeface="Calibri" pitchFamily="34" charset="-120"/>
              </a:rPr>
              <a:t>105 raw columns were grouped into 10 composite scores. Each group captures one underlying concept about the farmer.</a:t>
            </a:r>
            <a:endParaRPr lang="en-US" sz="1250" dirty="0"/>
          </a:p>
        </p:txBody>
      </p:sp>
      <p:sp>
        <p:nvSpPr>
          <p:cNvPr id="5" name="Shape 3"/>
          <p:cNvSpPr/>
          <p:nvPr/>
        </p:nvSpPr>
        <p:spPr>
          <a:xfrm>
            <a:off x="365760" y="1298448"/>
            <a:ext cx="4206240" cy="603504"/>
          </a:xfrm>
          <a:prstGeom prst="rect">
            <a:avLst/>
          </a:prstGeom>
          <a:solidFill>
            <a:srgbClr val="F7F9F7"/>
          </a:solidFill>
          <a:ln/>
        </p:spPr>
      </p:sp>
      <p:sp>
        <p:nvSpPr>
          <p:cNvPr id="6" name="Text 4"/>
          <p:cNvSpPr/>
          <p:nvPr/>
        </p:nvSpPr>
        <p:spPr>
          <a:xfrm>
            <a:off x="502920" y="1335024"/>
            <a:ext cx="3931920" cy="256032"/>
          </a:xfrm>
          <a:prstGeom prst="rect">
            <a:avLst/>
          </a:prstGeom>
          <a:noFill/>
          <a:ln/>
        </p:spPr>
        <p:txBody>
          <a:bodyPr wrap="square" lIns="0" tIns="0" rIns="0" bIns="0" rtlCol="0" anchor="ctr"/>
          <a:lstStyle/>
          <a:p>
            <a:pPr marL="0" indent="0">
              <a:buNone/>
            </a:pPr>
            <a:r>
              <a:rPr lang="en-US" sz="1000" b="1" dirty="0">
                <a:solidFill>
                  <a:srgbClr val="2D6A4F"/>
                </a:solidFill>
                <a:latin typeface="Courier New" pitchFamily="34" charset="0"/>
                <a:ea typeface="Courier New" pitchFamily="34" charset="-122"/>
                <a:cs typeface="Courier New" pitchFamily="34" charset="-120"/>
              </a:rPr>
              <a:t>market_access_score</a:t>
            </a:r>
            <a:endParaRPr lang="en-US" sz="1000" dirty="0"/>
          </a:p>
        </p:txBody>
      </p:sp>
      <p:sp>
        <p:nvSpPr>
          <p:cNvPr id="7" name="Text 5"/>
          <p:cNvSpPr/>
          <p:nvPr/>
        </p:nvSpPr>
        <p:spPr>
          <a:xfrm>
            <a:off x="502920" y="1600200"/>
            <a:ext cx="3931920" cy="2560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Road density, mandi proximity, railway access, village socioeconomic score</a:t>
            </a:r>
            <a:endParaRPr lang="en-US" sz="950" dirty="0"/>
          </a:p>
        </p:txBody>
      </p:sp>
      <p:sp>
        <p:nvSpPr>
          <p:cNvPr id="8" name="Shape 6"/>
          <p:cNvSpPr/>
          <p:nvPr/>
        </p:nvSpPr>
        <p:spPr>
          <a:xfrm>
            <a:off x="4773168" y="1298448"/>
            <a:ext cx="4206240" cy="603504"/>
          </a:xfrm>
          <a:prstGeom prst="rect">
            <a:avLst/>
          </a:prstGeom>
          <a:solidFill>
            <a:srgbClr val="F7F9F7"/>
          </a:solidFill>
          <a:ln/>
        </p:spPr>
      </p:sp>
      <p:sp>
        <p:nvSpPr>
          <p:cNvPr id="9" name="Text 7"/>
          <p:cNvSpPr/>
          <p:nvPr/>
        </p:nvSpPr>
        <p:spPr>
          <a:xfrm>
            <a:off x="4910328" y="1335024"/>
            <a:ext cx="3931920" cy="256032"/>
          </a:xfrm>
          <a:prstGeom prst="rect">
            <a:avLst/>
          </a:prstGeom>
          <a:noFill/>
          <a:ln/>
        </p:spPr>
        <p:txBody>
          <a:bodyPr wrap="square" lIns="0" tIns="0" rIns="0" bIns="0" rtlCol="0" anchor="ctr"/>
          <a:lstStyle/>
          <a:p>
            <a:pPr marL="0" indent="0">
              <a:buNone/>
            </a:pPr>
            <a:r>
              <a:rPr lang="en-US" sz="1000" b="1" dirty="0">
                <a:solidFill>
                  <a:srgbClr val="2D6A4F"/>
                </a:solidFill>
                <a:latin typeface="Courier New" pitchFamily="34" charset="0"/>
                <a:ea typeface="Courier New" pitchFamily="34" charset="-122"/>
                <a:cs typeface="Courier New" pitchFamily="34" charset="-120"/>
              </a:rPr>
              <a:t>infra_feature_score</a:t>
            </a:r>
            <a:endParaRPr lang="en-US" sz="1000" dirty="0"/>
          </a:p>
        </p:txBody>
      </p:sp>
      <p:sp>
        <p:nvSpPr>
          <p:cNvPr id="10" name="Text 8"/>
          <p:cNvSpPr/>
          <p:nvPr/>
        </p:nvSpPr>
        <p:spPr>
          <a:xfrm>
            <a:off x="4910328" y="1600200"/>
            <a:ext cx="3931920" cy="2560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Electricity, pucca house, sanitation, wall material, house size</a:t>
            </a:r>
            <a:endParaRPr lang="en-US" sz="950" dirty="0"/>
          </a:p>
        </p:txBody>
      </p:sp>
      <p:sp>
        <p:nvSpPr>
          <p:cNvPr id="11" name="Shape 9"/>
          <p:cNvSpPr/>
          <p:nvPr/>
        </p:nvSpPr>
        <p:spPr>
          <a:xfrm>
            <a:off x="365760" y="1993392"/>
            <a:ext cx="4206240" cy="603504"/>
          </a:xfrm>
          <a:prstGeom prst="rect">
            <a:avLst/>
          </a:prstGeom>
          <a:solidFill>
            <a:srgbClr val="F7F9F7"/>
          </a:solidFill>
          <a:ln/>
        </p:spPr>
      </p:sp>
      <p:sp>
        <p:nvSpPr>
          <p:cNvPr id="12" name="Text 10"/>
          <p:cNvSpPr/>
          <p:nvPr/>
        </p:nvSpPr>
        <p:spPr>
          <a:xfrm>
            <a:off x="502920" y="2029968"/>
            <a:ext cx="3931920" cy="256032"/>
          </a:xfrm>
          <a:prstGeom prst="rect">
            <a:avLst/>
          </a:prstGeom>
          <a:noFill/>
          <a:ln/>
        </p:spPr>
        <p:txBody>
          <a:bodyPr wrap="square" lIns="0" tIns="0" rIns="0" bIns="0" rtlCol="0" anchor="ctr"/>
          <a:lstStyle/>
          <a:p>
            <a:pPr marL="0" indent="0">
              <a:buNone/>
            </a:pPr>
            <a:r>
              <a:rPr lang="en-US" sz="1000" b="1" dirty="0">
                <a:solidFill>
                  <a:srgbClr val="2D6A4F"/>
                </a:solidFill>
                <a:latin typeface="Courier New" pitchFamily="34" charset="0"/>
                <a:ea typeface="Courier New" pitchFamily="34" charset="-122"/>
                <a:cs typeface="Courier New" pitchFamily="34" charset="-120"/>
              </a:rPr>
              <a:t>temp_rf_kharif_score</a:t>
            </a:r>
            <a:endParaRPr lang="en-US" sz="1000" dirty="0"/>
          </a:p>
        </p:txBody>
      </p:sp>
      <p:sp>
        <p:nvSpPr>
          <p:cNvPr id="13" name="Text 11"/>
          <p:cNvSpPr/>
          <p:nvPr/>
        </p:nvSpPr>
        <p:spPr>
          <a:xfrm>
            <a:off x="502920" y="2295144"/>
            <a:ext cx="3931920" cy="2560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Temperature and rainfall for the Kharif (summer) growing season</a:t>
            </a:r>
            <a:endParaRPr lang="en-US" sz="950" dirty="0"/>
          </a:p>
        </p:txBody>
      </p:sp>
      <p:sp>
        <p:nvSpPr>
          <p:cNvPr id="14" name="Shape 12"/>
          <p:cNvSpPr/>
          <p:nvPr/>
        </p:nvSpPr>
        <p:spPr>
          <a:xfrm>
            <a:off x="4773168" y="1993392"/>
            <a:ext cx="4206240" cy="603504"/>
          </a:xfrm>
          <a:prstGeom prst="rect">
            <a:avLst/>
          </a:prstGeom>
          <a:solidFill>
            <a:srgbClr val="F7F9F7"/>
          </a:solidFill>
          <a:ln/>
        </p:spPr>
      </p:sp>
      <p:sp>
        <p:nvSpPr>
          <p:cNvPr id="15" name="Text 13"/>
          <p:cNvSpPr/>
          <p:nvPr/>
        </p:nvSpPr>
        <p:spPr>
          <a:xfrm>
            <a:off x="4910328" y="2029968"/>
            <a:ext cx="3931920" cy="256032"/>
          </a:xfrm>
          <a:prstGeom prst="rect">
            <a:avLst/>
          </a:prstGeom>
          <a:noFill/>
          <a:ln/>
        </p:spPr>
        <p:txBody>
          <a:bodyPr wrap="square" lIns="0" tIns="0" rIns="0" bIns="0" rtlCol="0" anchor="ctr"/>
          <a:lstStyle/>
          <a:p>
            <a:pPr marL="0" indent="0">
              <a:buNone/>
            </a:pPr>
            <a:r>
              <a:rPr lang="en-US" sz="1000" b="1" dirty="0">
                <a:solidFill>
                  <a:srgbClr val="2D6A4F"/>
                </a:solidFill>
                <a:latin typeface="Courier New" pitchFamily="34" charset="0"/>
                <a:ea typeface="Courier New" pitchFamily="34" charset="-122"/>
                <a:cs typeface="Courier New" pitchFamily="34" charset="-120"/>
              </a:rPr>
              <a:t>temp_rf_rabi_score</a:t>
            </a:r>
            <a:endParaRPr lang="en-US" sz="1000" dirty="0"/>
          </a:p>
        </p:txBody>
      </p:sp>
      <p:sp>
        <p:nvSpPr>
          <p:cNvPr id="16" name="Text 14"/>
          <p:cNvSpPr/>
          <p:nvPr/>
        </p:nvSpPr>
        <p:spPr>
          <a:xfrm>
            <a:off x="4910328" y="2295144"/>
            <a:ext cx="3931920" cy="2560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Temperature and rainfall for the Rabi (winter) growing season</a:t>
            </a:r>
            <a:endParaRPr lang="en-US" sz="950" dirty="0"/>
          </a:p>
        </p:txBody>
      </p:sp>
      <p:sp>
        <p:nvSpPr>
          <p:cNvPr id="17" name="Shape 15"/>
          <p:cNvSpPr/>
          <p:nvPr/>
        </p:nvSpPr>
        <p:spPr>
          <a:xfrm>
            <a:off x="365760" y="2688336"/>
            <a:ext cx="4206240" cy="603504"/>
          </a:xfrm>
          <a:prstGeom prst="rect">
            <a:avLst/>
          </a:prstGeom>
          <a:solidFill>
            <a:srgbClr val="F7F9F7"/>
          </a:solidFill>
          <a:ln/>
        </p:spPr>
      </p:sp>
      <p:sp>
        <p:nvSpPr>
          <p:cNvPr id="18" name="Text 16"/>
          <p:cNvSpPr/>
          <p:nvPr/>
        </p:nvSpPr>
        <p:spPr>
          <a:xfrm>
            <a:off x="502920" y="2724912"/>
            <a:ext cx="3931920" cy="256032"/>
          </a:xfrm>
          <a:prstGeom prst="rect">
            <a:avLst/>
          </a:prstGeom>
          <a:noFill/>
          <a:ln/>
        </p:spPr>
        <p:txBody>
          <a:bodyPr wrap="square" lIns="0" tIns="0" rIns="0" bIns="0" rtlCol="0" anchor="ctr"/>
          <a:lstStyle/>
          <a:p>
            <a:pPr marL="0" indent="0">
              <a:buNone/>
            </a:pPr>
            <a:r>
              <a:rPr lang="en-US" sz="1000" b="1" dirty="0">
                <a:solidFill>
                  <a:srgbClr val="2D6A4F"/>
                </a:solidFill>
                <a:latin typeface="Courier New" pitchFamily="34" charset="0"/>
                <a:ea typeface="Courier New" pitchFamily="34" charset="-122"/>
                <a:cs typeface="Courier New" pitchFamily="34" charset="-120"/>
              </a:rPr>
              <a:t>geo_kharif_22_score</a:t>
            </a:r>
            <a:endParaRPr lang="en-US" sz="1000" dirty="0"/>
          </a:p>
        </p:txBody>
      </p:sp>
      <p:sp>
        <p:nvSpPr>
          <p:cNvPr id="19" name="Text 17"/>
          <p:cNvSpPr/>
          <p:nvPr/>
        </p:nvSpPr>
        <p:spPr>
          <a:xfrm>
            <a:off x="502920" y="2990088"/>
            <a:ext cx="3931920" cy="2560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Geographic agricultural indicators for Kharif season 2022</a:t>
            </a:r>
            <a:endParaRPr lang="en-US" sz="950" dirty="0"/>
          </a:p>
        </p:txBody>
      </p:sp>
      <p:sp>
        <p:nvSpPr>
          <p:cNvPr id="20" name="Shape 18"/>
          <p:cNvSpPr/>
          <p:nvPr/>
        </p:nvSpPr>
        <p:spPr>
          <a:xfrm>
            <a:off x="4773168" y="2688336"/>
            <a:ext cx="4206240" cy="603504"/>
          </a:xfrm>
          <a:prstGeom prst="rect">
            <a:avLst/>
          </a:prstGeom>
          <a:solidFill>
            <a:srgbClr val="F7F9F7"/>
          </a:solidFill>
          <a:ln/>
        </p:spPr>
      </p:sp>
      <p:sp>
        <p:nvSpPr>
          <p:cNvPr id="21" name="Text 19"/>
          <p:cNvSpPr/>
          <p:nvPr/>
        </p:nvSpPr>
        <p:spPr>
          <a:xfrm>
            <a:off x="4910328" y="2724912"/>
            <a:ext cx="3931920" cy="256032"/>
          </a:xfrm>
          <a:prstGeom prst="rect">
            <a:avLst/>
          </a:prstGeom>
          <a:noFill/>
          <a:ln/>
        </p:spPr>
        <p:txBody>
          <a:bodyPr wrap="square" lIns="0" tIns="0" rIns="0" bIns="0" rtlCol="0" anchor="ctr"/>
          <a:lstStyle/>
          <a:p>
            <a:pPr marL="0" indent="0">
              <a:buNone/>
            </a:pPr>
            <a:r>
              <a:rPr lang="en-US" sz="1000" b="1" dirty="0">
                <a:solidFill>
                  <a:srgbClr val="2D6A4F"/>
                </a:solidFill>
                <a:latin typeface="Courier New" pitchFamily="34" charset="0"/>
                <a:ea typeface="Courier New" pitchFamily="34" charset="-122"/>
                <a:cs typeface="Courier New" pitchFamily="34" charset="-120"/>
              </a:rPr>
              <a:t>geo_rabi_22_score</a:t>
            </a:r>
            <a:endParaRPr lang="en-US" sz="1000" dirty="0"/>
          </a:p>
        </p:txBody>
      </p:sp>
      <p:sp>
        <p:nvSpPr>
          <p:cNvPr id="22" name="Text 20"/>
          <p:cNvSpPr/>
          <p:nvPr/>
        </p:nvSpPr>
        <p:spPr>
          <a:xfrm>
            <a:off x="4910328" y="2990088"/>
            <a:ext cx="3931920" cy="2560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Geographic agricultural indicators for Rabi season 2022</a:t>
            </a:r>
            <a:endParaRPr lang="en-US" sz="950" dirty="0"/>
          </a:p>
        </p:txBody>
      </p:sp>
      <p:sp>
        <p:nvSpPr>
          <p:cNvPr id="23" name="Shape 21"/>
          <p:cNvSpPr/>
          <p:nvPr/>
        </p:nvSpPr>
        <p:spPr>
          <a:xfrm>
            <a:off x="365760" y="3383280"/>
            <a:ext cx="4206240" cy="603504"/>
          </a:xfrm>
          <a:prstGeom prst="rect">
            <a:avLst/>
          </a:prstGeom>
          <a:solidFill>
            <a:srgbClr val="F7F9F7"/>
          </a:solidFill>
          <a:ln/>
        </p:spPr>
      </p:sp>
      <p:sp>
        <p:nvSpPr>
          <p:cNvPr id="24" name="Text 22"/>
          <p:cNvSpPr/>
          <p:nvPr/>
        </p:nvSpPr>
        <p:spPr>
          <a:xfrm>
            <a:off x="502920" y="3419856"/>
            <a:ext cx="3931920" cy="256032"/>
          </a:xfrm>
          <a:prstGeom prst="rect">
            <a:avLst/>
          </a:prstGeom>
          <a:noFill/>
          <a:ln/>
        </p:spPr>
        <p:txBody>
          <a:bodyPr wrap="square" lIns="0" tIns="0" rIns="0" bIns="0" rtlCol="0" anchor="ctr"/>
          <a:lstStyle/>
          <a:p>
            <a:pPr marL="0" indent="0">
              <a:buNone/>
            </a:pPr>
            <a:r>
              <a:rPr lang="en-US" sz="1000" b="1" dirty="0">
                <a:solidFill>
                  <a:srgbClr val="2D6A4F"/>
                </a:solidFill>
                <a:latin typeface="Courier New" pitchFamily="34" charset="0"/>
                <a:ea typeface="Courier New" pitchFamily="34" charset="-122"/>
                <a:cs typeface="Courier New" pitchFamily="34" charset="-120"/>
              </a:rPr>
              <a:t>geo_kharif_21_score</a:t>
            </a:r>
            <a:endParaRPr lang="en-US" sz="1000" dirty="0"/>
          </a:p>
        </p:txBody>
      </p:sp>
      <p:sp>
        <p:nvSpPr>
          <p:cNvPr id="25" name="Text 23"/>
          <p:cNvSpPr/>
          <p:nvPr/>
        </p:nvSpPr>
        <p:spPr>
          <a:xfrm>
            <a:off x="502920" y="3685032"/>
            <a:ext cx="3931920" cy="2560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Geographic agricultural indicators for Kharif season 2021</a:t>
            </a:r>
            <a:endParaRPr lang="en-US" sz="950" dirty="0"/>
          </a:p>
        </p:txBody>
      </p:sp>
      <p:sp>
        <p:nvSpPr>
          <p:cNvPr id="26" name="Shape 24"/>
          <p:cNvSpPr/>
          <p:nvPr/>
        </p:nvSpPr>
        <p:spPr>
          <a:xfrm>
            <a:off x="4773168" y="3383280"/>
            <a:ext cx="4206240" cy="603504"/>
          </a:xfrm>
          <a:prstGeom prst="rect">
            <a:avLst/>
          </a:prstGeom>
          <a:solidFill>
            <a:srgbClr val="F7F9F7"/>
          </a:solidFill>
          <a:ln/>
        </p:spPr>
      </p:sp>
      <p:sp>
        <p:nvSpPr>
          <p:cNvPr id="27" name="Text 25"/>
          <p:cNvSpPr/>
          <p:nvPr/>
        </p:nvSpPr>
        <p:spPr>
          <a:xfrm>
            <a:off x="4910328" y="3419856"/>
            <a:ext cx="3931920" cy="256032"/>
          </a:xfrm>
          <a:prstGeom prst="rect">
            <a:avLst/>
          </a:prstGeom>
          <a:noFill/>
          <a:ln/>
        </p:spPr>
        <p:txBody>
          <a:bodyPr wrap="square" lIns="0" tIns="0" rIns="0" bIns="0" rtlCol="0" anchor="ctr"/>
          <a:lstStyle/>
          <a:p>
            <a:pPr marL="0" indent="0">
              <a:buNone/>
            </a:pPr>
            <a:r>
              <a:rPr lang="en-US" sz="1000" b="1" dirty="0">
                <a:solidFill>
                  <a:srgbClr val="2D6A4F"/>
                </a:solidFill>
                <a:latin typeface="Courier New" pitchFamily="34" charset="0"/>
                <a:ea typeface="Courier New" pitchFamily="34" charset="-122"/>
                <a:cs typeface="Courier New" pitchFamily="34" charset="-120"/>
              </a:rPr>
              <a:t>geo_rabi_21_score</a:t>
            </a:r>
            <a:endParaRPr lang="en-US" sz="1000" dirty="0"/>
          </a:p>
        </p:txBody>
      </p:sp>
      <p:sp>
        <p:nvSpPr>
          <p:cNvPr id="28" name="Text 26"/>
          <p:cNvSpPr/>
          <p:nvPr/>
        </p:nvSpPr>
        <p:spPr>
          <a:xfrm>
            <a:off x="4910328" y="3685032"/>
            <a:ext cx="3931920" cy="2560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Geographic agricultural indicators for Rabi season 2021</a:t>
            </a:r>
            <a:endParaRPr lang="en-US" sz="950" dirty="0"/>
          </a:p>
        </p:txBody>
      </p:sp>
      <p:sp>
        <p:nvSpPr>
          <p:cNvPr id="29" name="Shape 27"/>
          <p:cNvSpPr/>
          <p:nvPr/>
        </p:nvSpPr>
        <p:spPr>
          <a:xfrm>
            <a:off x="365760" y="4078224"/>
            <a:ext cx="4206240" cy="603504"/>
          </a:xfrm>
          <a:prstGeom prst="rect">
            <a:avLst/>
          </a:prstGeom>
          <a:solidFill>
            <a:srgbClr val="F7F9F7"/>
          </a:solidFill>
          <a:ln/>
        </p:spPr>
      </p:sp>
      <p:sp>
        <p:nvSpPr>
          <p:cNvPr id="30" name="Text 28"/>
          <p:cNvSpPr/>
          <p:nvPr/>
        </p:nvSpPr>
        <p:spPr>
          <a:xfrm>
            <a:off x="502920" y="4114800"/>
            <a:ext cx="3931920" cy="256032"/>
          </a:xfrm>
          <a:prstGeom prst="rect">
            <a:avLst/>
          </a:prstGeom>
          <a:noFill/>
          <a:ln/>
        </p:spPr>
        <p:txBody>
          <a:bodyPr wrap="square" lIns="0" tIns="0" rIns="0" bIns="0" rtlCol="0" anchor="ctr"/>
          <a:lstStyle/>
          <a:p>
            <a:pPr marL="0" indent="0">
              <a:buNone/>
            </a:pPr>
            <a:r>
              <a:rPr lang="en-US" sz="1000" b="1" dirty="0">
                <a:solidFill>
                  <a:srgbClr val="2D6A4F"/>
                </a:solidFill>
                <a:latin typeface="Courier New" pitchFamily="34" charset="0"/>
                <a:ea typeface="Courier New" pitchFamily="34" charset="-122"/>
                <a:cs typeface="Courier New" pitchFamily="34" charset="-120"/>
              </a:rPr>
              <a:t>geo_kharif_20_score</a:t>
            </a:r>
            <a:endParaRPr lang="en-US" sz="1000" dirty="0"/>
          </a:p>
        </p:txBody>
      </p:sp>
      <p:sp>
        <p:nvSpPr>
          <p:cNvPr id="31" name="Text 29"/>
          <p:cNvSpPr/>
          <p:nvPr/>
        </p:nvSpPr>
        <p:spPr>
          <a:xfrm>
            <a:off x="502920" y="4379976"/>
            <a:ext cx="3931920" cy="2560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Geographic agricultural indicators for Kharif season 2020</a:t>
            </a:r>
            <a:endParaRPr lang="en-US" sz="950" dirty="0"/>
          </a:p>
        </p:txBody>
      </p:sp>
      <p:sp>
        <p:nvSpPr>
          <p:cNvPr id="32" name="Shape 30"/>
          <p:cNvSpPr/>
          <p:nvPr/>
        </p:nvSpPr>
        <p:spPr>
          <a:xfrm>
            <a:off x="4773168" y="4078224"/>
            <a:ext cx="4206240" cy="603504"/>
          </a:xfrm>
          <a:prstGeom prst="rect">
            <a:avLst/>
          </a:prstGeom>
          <a:solidFill>
            <a:srgbClr val="F7F9F7"/>
          </a:solidFill>
          <a:ln/>
        </p:spPr>
      </p:sp>
      <p:sp>
        <p:nvSpPr>
          <p:cNvPr id="33" name="Text 31"/>
          <p:cNvSpPr/>
          <p:nvPr/>
        </p:nvSpPr>
        <p:spPr>
          <a:xfrm>
            <a:off x="4910328" y="4114800"/>
            <a:ext cx="3931920" cy="256032"/>
          </a:xfrm>
          <a:prstGeom prst="rect">
            <a:avLst/>
          </a:prstGeom>
          <a:noFill/>
          <a:ln/>
        </p:spPr>
        <p:txBody>
          <a:bodyPr wrap="square" lIns="0" tIns="0" rIns="0" bIns="0" rtlCol="0" anchor="ctr"/>
          <a:lstStyle/>
          <a:p>
            <a:pPr marL="0" indent="0">
              <a:buNone/>
            </a:pPr>
            <a:r>
              <a:rPr lang="en-US" sz="1000" b="1" dirty="0">
                <a:solidFill>
                  <a:srgbClr val="2D6A4F"/>
                </a:solidFill>
                <a:latin typeface="Courier New" pitchFamily="34" charset="0"/>
                <a:ea typeface="Courier New" pitchFamily="34" charset="-122"/>
                <a:cs typeface="Courier New" pitchFamily="34" charset="-120"/>
              </a:rPr>
              <a:t>geo_rabi_20_score</a:t>
            </a:r>
            <a:endParaRPr lang="en-US" sz="1000" dirty="0"/>
          </a:p>
        </p:txBody>
      </p:sp>
      <p:sp>
        <p:nvSpPr>
          <p:cNvPr id="34" name="Text 32"/>
          <p:cNvSpPr/>
          <p:nvPr/>
        </p:nvSpPr>
        <p:spPr>
          <a:xfrm>
            <a:off x="4910328" y="4379976"/>
            <a:ext cx="3931920" cy="256032"/>
          </a:xfrm>
          <a:prstGeom prst="rect">
            <a:avLst/>
          </a:prstGeom>
          <a:noFill/>
          <a:ln/>
        </p:spPr>
        <p:txBody>
          <a:bodyPr wrap="square" lIns="0" tIns="0" rIns="0" bIns="0" rtlCol="0" anchor="ctr"/>
          <a:lstStyle/>
          <a:p>
            <a:pPr marL="0" indent="0">
              <a:buNone/>
            </a:pPr>
            <a:r>
              <a:rPr lang="en-US" sz="950" dirty="0">
                <a:solidFill>
                  <a:srgbClr val="374151"/>
                </a:solidFill>
                <a:latin typeface="Calibri" pitchFamily="34" charset="0"/>
                <a:ea typeface="Calibri" pitchFamily="34" charset="-122"/>
                <a:cs typeface="Calibri" pitchFamily="34" charset="-120"/>
              </a:rPr>
              <a:t>Geographic agricultural indicators for Rabi season 2020</a:t>
            </a:r>
            <a:endParaRPr lang="en-US" sz="950" dirty="0"/>
          </a:p>
        </p:txBody>
      </p:sp>
      <p:sp>
        <p:nvSpPr>
          <p:cNvPr id="35" name="Shape 33"/>
          <p:cNvSpPr/>
          <p:nvPr/>
        </p:nvSpPr>
        <p:spPr>
          <a:xfrm>
            <a:off x="365760" y="4709160"/>
            <a:ext cx="8412480" cy="292608"/>
          </a:xfrm>
          <a:prstGeom prst="rect">
            <a:avLst/>
          </a:prstGeom>
          <a:solidFill>
            <a:srgbClr val="1B4332"/>
          </a:solidFill>
          <a:ln/>
        </p:spPr>
      </p:sp>
      <p:sp>
        <p:nvSpPr>
          <p:cNvPr id="36" name="Text 34"/>
          <p:cNvSpPr/>
          <p:nvPr/>
        </p:nvSpPr>
        <p:spPr>
          <a:xfrm>
            <a:off x="365760" y="4709160"/>
            <a:ext cx="8412480" cy="292608"/>
          </a:xfrm>
          <a:prstGeom prst="rect">
            <a:avLst/>
          </a:prstGeom>
          <a:noFill/>
          <a:ln/>
        </p:spPr>
        <p:txBody>
          <a:bodyPr wrap="square" lIns="50800" tIns="50800" rIns="50800" bIns="50800" rtlCol="0" anchor="ctr"/>
          <a:lstStyle/>
          <a:p>
            <a:pPr marL="0" indent="0">
              <a:buNone/>
            </a:pPr>
            <a:r>
              <a:rPr lang="en-US" sz="1050" dirty="0">
                <a:solidFill>
                  <a:srgbClr val="D8F3DC"/>
                </a:solidFill>
                <a:latin typeface="Calibri" pitchFamily="34" charset="0"/>
                <a:ea typeface="Calibri" pitchFamily="34" charset="-122"/>
                <a:cs typeface="Calibri" pitchFamily="34" charset="-120"/>
              </a:rPr>
              <a:t>How:  1. Take raw columns for that group    2. MinMaxScaler → all columns scaled to 0–1    3. Average across columns → one score per farmer</a:t>
            </a:r>
            <a:endParaRPr lang="en-US" sz="1050" dirty="0"/>
          </a:p>
        </p:txBody>
      </p:sp>
      <p:sp>
        <p:nvSpPr>
          <p:cNvPr id="37" name="Text 35"/>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05</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Log Transforming the Target</a:t>
            </a:r>
            <a:endParaRPr lang="en-US" sz="2600" dirty="0"/>
          </a:p>
        </p:txBody>
      </p:sp>
      <p:sp>
        <p:nvSpPr>
          <p:cNvPr id="5" name="Shape 2"/>
          <p:cNvSpPr/>
          <p:nvPr/>
        </p:nvSpPr>
        <p:spPr>
          <a:xfrm>
            <a:off x="6126480" y="896112"/>
            <a:ext cx="2743200" cy="2468880"/>
          </a:xfrm>
          <a:prstGeom prst="rect">
            <a:avLst/>
          </a:prstGeom>
          <a:solidFill>
            <a:srgbClr val="F7F9F7"/>
          </a:solidFill>
          <a:ln/>
          <a:effectLst>
            <a:outerShdw blurRad="101600" dist="38100" dir="8100000" algn="bl" rotWithShape="0">
              <a:srgbClr val="000000">
                <a:alpha val="10000"/>
              </a:srgbClr>
            </a:outerShdw>
          </a:effectLst>
        </p:spPr>
      </p:sp>
      <p:sp>
        <p:nvSpPr>
          <p:cNvPr id="6" name="Shape 3"/>
          <p:cNvSpPr/>
          <p:nvPr/>
        </p:nvSpPr>
        <p:spPr>
          <a:xfrm>
            <a:off x="6126480" y="896112"/>
            <a:ext cx="64008" cy="2468880"/>
          </a:xfrm>
          <a:prstGeom prst="rect">
            <a:avLst/>
          </a:prstGeom>
          <a:solidFill>
            <a:srgbClr val="C9963A"/>
          </a:solidFill>
          <a:ln/>
        </p:spPr>
      </p:sp>
      <p:sp>
        <p:nvSpPr>
          <p:cNvPr id="7" name="Text 4"/>
          <p:cNvSpPr/>
          <p:nvPr/>
        </p:nvSpPr>
        <p:spPr>
          <a:xfrm>
            <a:off x="6281928" y="987552"/>
            <a:ext cx="2514600" cy="320040"/>
          </a:xfrm>
          <a:prstGeom prst="rect">
            <a:avLst/>
          </a:prstGeom>
          <a:noFill/>
          <a:ln/>
        </p:spPr>
        <p:txBody>
          <a:bodyPr wrap="square" lIns="0" tIns="0" rIns="0" bIns="0" rtlCol="0" anchor="ctr"/>
          <a:lstStyle/>
          <a:p>
            <a:pPr marL="0" indent="0">
              <a:buNone/>
            </a:pPr>
            <a:r>
              <a:rPr lang="en-US" sz="1200" b="1" dirty="0">
                <a:solidFill>
                  <a:srgbClr val="1B4332"/>
                </a:solidFill>
                <a:latin typeface="Georgia" pitchFamily="34" charset="0"/>
                <a:ea typeface="Georgia" pitchFamily="34" charset="-122"/>
                <a:cs typeface="Georgia" pitchFamily="34" charset="-120"/>
              </a:rPr>
              <a:t>Why this matters</a:t>
            </a:r>
            <a:endParaRPr lang="en-US" sz="1200" dirty="0"/>
          </a:p>
        </p:txBody>
      </p:sp>
      <p:sp>
        <p:nvSpPr>
          <p:cNvPr id="8" name="Text 5"/>
          <p:cNvSpPr/>
          <p:nvPr/>
        </p:nvSpPr>
        <p:spPr>
          <a:xfrm>
            <a:off x="6281928" y="1353312"/>
            <a:ext cx="2514600" cy="1920240"/>
          </a:xfrm>
          <a:prstGeom prst="rect">
            <a:avLst/>
          </a:prstGeom>
          <a:noFill/>
          <a:ln/>
        </p:spPr>
        <p:txBody>
          <a:bodyPr wrap="square" rtlCol="0" anchor="t"/>
          <a:lstStyle/>
          <a:p>
            <a:pPr marL="0" indent="0">
              <a:buNone/>
            </a:pPr>
            <a:r>
              <a:rPr lang="en-US" sz="1100" dirty="0">
                <a:solidFill>
                  <a:srgbClr val="374151"/>
                </a:solidFill>
                <a:latin typeface="Calibri" pitchFamily="34" charset="0"/>
                <a:ea typeface="Calibri" pitchFamily="34" charset="-122"/>
                <a:cs typeface="Calibri" pitchFamily="34" charset="-120"/>
              </a:rPr>
              <a:t>Raw income is heavily skewed. A few farmers earn 10x the median, which confuses models into chasing outliers.
</a:t>
            </a:r>
            <a:r>
              <a:rPr lang="en-US" sz="1100" b="1" dirty="0">
                <a:solidFill>
                  <a:srgbClr val="374151"/>
                </a:solidFill>
                <a:latin typeface="Calibri" pitchFamily="34" charset="0"/>
                <a:ea typeface="Calibri" pitchFamily="34" charset="-122"/>
                <a:cs typeface="Calibri" pitchFamily="34" charset="-120"/>
              </a:rPr>
              <a:t>log1p(income)</a:t>
            </a:r>
            <a:r>
              <a:rPr lang="en-US" sz="1100" dirty="0">
                <a:solidFill>
                  <a:srgbClr val="374151"/>
                </a:solidFill>
                <a:latin typeface="Calibri" pitchFamily="34" charset="0"/>
                <a:ea typeface="Calibri" pitchFamily="34" charset="-122"/>
                <a:cs typeface="Calibri" pitchFamily="34" charset="-120"/>
              </a:rPr>
              <a:t> compresses the scale so all farmers are treated fairly.</a:t>
            </a:r>
            <a:endParaRPr lang="en-US" sz="1100" dirty="0"/>
          </a:p>
          <a:p>
            <a:pPr marL="0" indent="0">
              <a:buNone/>
            </a:pP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The model trains in log space, then we reverse with </a:t>
            </a:r>
            <a:endParaRPr lang="en-US" sz="1100" dirty="0"/>
          </a:p>
          <a:p>
            <a:pPr marL="0" indent="0">
              <a:buNone/>
            </a:pPr>
            <a:r>
              <a:rPr lang="en-US" sz="1100" b="1" dirty="0">
                <a:solidFill>
                  <a:srgbClr val="374151"/>
                </a:solidFill>
                <a:latin typeface="Calibri" pitchFamily="34" charset="0"/>
                <a:ea typeface="Calibri" pitchFamily="34" charset="-122"/>
                <a:cs typeface="Calibri" pitchFamily="34" charset="-120"/>
              </a:rPr>
              <a:t>expm1()</a:t>
            </a:r>
            <a:r>
              <a:rPr lang="en-US" sz="1100" dirty="0">
                <a:solidFill>
                  <a:srgbClr val="374151"/>
                </a:solidFill>
                <a:latin typeface="Calibri" pitchFamily="34" charset="0"/>
                <a:ea typeface="Calibri" pitchFamily="34" charset="-122"/>
                <a:cs typeface="Calibri" pitchFamily="34" charset="-120"/>
              </a:rPr>
              <a:t> to get real rupee predictions.</a:t>
            </a:r>
            <a:endParaRPr lang="en-US" sz="1100" dirty="0"/>
          </a:p>
        </p:txBody>
      </p:sp>
      <p:sp>
        <p:nvSpPr>
          <p:cNvPr id="9" name="Shape 6"/>
          <p:cNvSpPr/>
          <p:nvPr/>
        </p:nvSpPr>
        <p:spPr>
          <a:xfrm>
            <a:off x="365760" y="3493008"/>
            <a:ext cx="8412480" cy="1371600"/>
          </a:xfrm>
          <a:prstGeom prst="rect">
            <a:avLst/>
          </a:prstGeom>
          <a:solidFill>
            <a:srgbClr val="1E2029"/>
          </a:solidFill>
          <a:ln/>
        </p:spPr>
      </p:sp>
      <p:sp>
        <p:nvSpPr>
          <p:cNvPr id="10" name="Text 7"/>
          <p:cNvSpPr/>
          <p:nvPr/>
        </p:nvSpPr>
        <p:spPr>
          <a:xfrm>
            <a:off x="365760" y="3493008"/>
            <a:ext cx="8412480" cy="274320"/>
          </a:xfrm>
          <a:prstGeom prst="rect">
            <a:avLst/>
          </a:prstGeom>
          <a:noFill/>
          <a:ln/>
        </p:spPr>
        <p:txBody>
          <a:bodyPr wrap="square" lIns="76200" tIns="76200" rIns="76200" bIns="76200" rtlCol="0" anchor="ctr"/>
          <a:lstStyle/>
          <a:p>
            <a:pPr marL="0" indent="0">
              <a:buNone/>
            </a:pPr>
            <a:r>
              <a:rPr lang="en-US" sz="900" dirty="0">
                <a:solidFill>
                  <a:srgbClr val="5C6370"/>
                </a:solidFill>
                <a:latin typeface="Courier New" pitchFamily="34" charset="0"/>
                <a:ea typeface="Courier New" pitchFamily="34" charset="-122"/>
                <a:cs typeface="Courier New" pitchFamily="34" charset="-120"/>
              </a:rPr>
              <a:t>python</a:t>
            </a:r>
            <a:endParaRPr lang="en-US" sz="900" dirty="0"/>
          </a:p>
        </p:txBody>
      </p:sp>
      <p:sp>
        <p:nvSpPr>
          <p:cNvPr id="11" name="Text 8"/>
          <p:cNvSpPr/>
          <p:nvPr/>
        </p:nvSpPr>
        <p:spPr>
          <a:xfrm>
            <a:off x="365760" y="3749040"/>
            <a:ext cx="8412480" cy="1051560"/>
          </a:xfrm>
          <a:prstGeom prst="rect">
            <a:avLst/>
          </a:prstGeom>
          <a:noFill/>
          <a:ln/>
        </p:spPr>
        <p:txBody>
          <a:bodyPr wrap="square" lIns="127000" tIns="127000" rIns="127000" bIns="127000" rtlCol="0" anchor="t"/>
          <a:lstStyle/>
          <a:p>
            <a:pPr marL="0" indent="0">
              <a:buNone/>
            </a:pPr>
            <a:r>
              <a:rPr lang="en-US" sz="1100" dirty="0">
                <a:solidFill>
                  <a:srgbClr val="98C379"/>
                </a:solidFill>
                <a:latin typeface="Courier New" pitchFamily="34" charset="0"/>
                <a:ea typeface="Courier New" pitchFamily="34" charset="-122"/>
                <a:cs typeface="Courier New" pitchFamily="34" charset="-120"/>
              </a:rPr>
              <a:t>y_tr_log  = np.log1p(y_tr)          # apply before training</a:t>
            </a:r>
            <a:endParaRPr lang="en-US" sz="1100" dirty="0"/>
          </a:p>
          <a:p>
            <a:pPr marL="0" indent="0">
              <a:buNone/>
            </a:pPr>
            <a:r>
              <a:rPr lang="en-US" sz="1100" dirty="0">
                <a:solidFill>
                  <a:srgbClr val="98C379"/>
                </a:solidFill>
                <a:latin typeface="Courier New" pitchFamily="34" charset="0"/>
                <a:ea typeface="Courier New" pitchFamily="34" charset="-122"/>
                <a:cs typeface="Courier New" pitchFamily="34" charset="-120"/>
              </a:rPr>
              <a:t>y_val_log = np.log1p(y_val)</a:t>
            </a:r>
            <a:endParaRPr lang="en-US" sz="1100" dirty="0"/>
          </a:p>
          <a:p>
            <a:pPr marL="0" indent="0">
              <a:buNone/>
            </a:pPr>
            <a:endParaRPr lang="en-US" sz="1100" dirty="0"/>
          </a:p>
          <a:p>
            <a:pPr marL="0" indent="0">
              <a:buNone/>
            </a:pPr>
            <a:r>
              <a:rPr lang="en-US" sz="1100" dirty="0">
                <a:solidFill>
                  <a:srgbClr val="98C379"/>
                </a:solidFill>
                <a:latin typeface="Courier New" pitchFamily="34" charset="0"/>
                <a:ea typeface="Courier New" pitchFamily="34" charset="-122"/>
                <a:cs typeface="Courier New" pitchFamily="34" charset="-120"/>
              </a:rPr>
              <a:t>preds_raw = np.clip(np.expm1(model.predict(X_val)), 1, None)   # reverse after predicting</a:t>
            </a:r>
            <a:endParaRPr lang="en-US" sz="1100" dirty="0"/>
          </a:p>
        </p:txBody>
      </p:sp>
      <p:sp>
        <p:nvSpPr>
          <p:cNvPr id="12" name="Text 9"/>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06</a:t>
            </a:r>
            <a:endParaRPr lang="en-US" sz="1600" dirty="0"/>
          </a:p>
        </p:txBody>
      </p:sp>
      <p:pic>
        <p:nvPicPr>
          <p:cNvPr id="14" name="Picture 13">
            <a:extLst>
              <a:ext uri="{FF2B5EF4-FFF2-40B4-BE49-F238E27FC236}">
                <a16:creationId xmlns:a16="http://schemas.microsoft.com/office/drawing/2014/main" id="{41CE3F6D-6FA3-FEB5-122E-9AC76341402B}"/>
              </a:ext>
            </a:extLst>
          </p:cNvPr>
          <p:cNvPicPr>
            <a:picLocks noChangeAspect="1"/>
          </p:cNvPicPr>
          <p:nvPr/>
        </p:nvPicPr>
        <p:blipFill>
          <a:blip r:embed="rId3"/>
          <a:stretch>
            <a:fillRect/>
          </a:stretch>
        </p:blipFill>
        <p:spPr>
          <a:xfrm>
            <a:off x="164694" y="987552"/>
            <a:ext cx="5870346" cy="21351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EDA - Income Distribution</a:t>
            </a:r>
            <a:endParaRPr lang="en-US" sz="2600" dirty="0"/>
          </a:p>
        </p:txBody>
      </p:sp>
      <p:sp>
        <p:nvSpPr>
          <p:cNvPr id="6" name="Shape 2"/>
          <p:cNvSpPr/>
          <p:nvPr/>
        </p:nvSpPr>
        <p:spPr>
          <a:xfrm>
            <a:off x="365760" y="3749040"/>
            <a:ext cx="2697480" cy="1097280"/>
          </a:xfrm>
          <a:prstGeom prst="rect">
            <a:avLst/>
          </a:prstGeom>
          <a:solidFill>
            <a:srgbClr val="F7F9F7"/>
          </a:solidFill>
          <a:ln/>
          <a:effectLst>
            <a:outerShdw blurRad="101600" dist="38100" dir="8100000" algn="bl" rotWithShape="0">
              <a:srgbClr val="000000">
                <a:alpha val="10000"/>
              </a:srgbClr>
            </a:outerShdw>
          </a:effectLst>
        </p:spPr>
      </p:sp>
      <p:sp>
        <p:nvSpPr>
          <p:cNvPr id="7" name="Shape 3"/>
          <p:cNvSpPr/>
          <p:nvPr/>
        </p:nvSpPr>
        <p:spPr>
          <a:xfrm>
            <a:off x="365760" y="3749040"/>
            <a:ext cx="2697480" cy="64008"/>
          </a:xfrm>
          <a:prstGeom prst="rect">
            <a:avLst/>
          </a:prstGeom>
          <a:solidFill>
            <a:srgbClr val="2D6A4F"/>
          </a:solidFill>
          <a:ln/>
        </p:spPr>
      </p:sp>
      <p:sp>
        <p:nvSpPr>
          <p:cNvPr id="8" name="Text 4"/>
          <p:cNvSpPr/>
          <p:nvPr/>
        </p:nvSpPr>
        <p:spPr>
          <a:xfrm>
            <a:off x="457200" y="3840480"/>
            <a:ext cx="2514600" cy="347472"/>
          </a:xfrm>
          <a:prstGeom prst="rect">
            <a:avLst/>
          </a:prstGeom>
          <a:noFill/>
          <a:ln/>
        </p:spPr>
        <p:txBody>
          <a:bodyPr wrap="square" lIns="0" tIns="0" rIns="0" bIns="0" rtlCol="0" anchor="ctr"/>
          <a:lstStyle/>
          <a:p>
            <a:pPr marL="0" indent="0">
              <a:buNone/>
            </a:pPr>
            <a:r>
              <a:rPr lang="en-US" sz="1050" b="1" dirty="0">
                <a:solidFill>
                  <a:srgbClr val="1B4332"/>
                </a:solidFill>
                <a:latin typeface="Georgia" pitchFamily="34" charset="0"/>
                <a:ea typeface="Georgia" pitchFamily="34" charset="-122"/>
                <a:cs typeface="Georgia" pitchFamily="34" charset="-120"/>
              </a:rPr>
              <a:t>88.7% of farmers earn between ₹5L and ₹20L.</a:t>
            </a:r>
            <a:endParaRPr lang="en-US" sz="1050" dirty="0"/>
          </a:p>
        </p:txBody>
      </p:sp>
      <p:sp>
        <p:nvSpPr>
          <p:cNvPr id="9" name="Text 5"/>
          <p:cNvSpPr/>
          <p:nvPr/>
        </p:nvSpPr>
        <p:spPr>
          <a:xfrm>
            <a:off x="457200" y="4206240"/>
            <a:ext cx="2514600" cy="54864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The bulk of the dataset is concentrated in this band, with the median sitting just under ₹10L.</a:t>
            </a:r>
            <a:endParaRPr lang="en-US" sz="1000" dirty="0"/>
          </a:p>
        </p:txBody>
      </p:sp>
      <p:sp>
        <p:nvSpPr>
          <p:cNvPr id="10" name="Shape 6"/>
          <p:cNvSpPr/>
          <p:nvPr/>
        </p:nvSpPr>
        <p:spPr>
          <a:xfrm>
            <a:off x="3291840" y="3749040"/>
            <a:ext cx="2697480" cy="1097280"/>
          </a:xfrm>
          <a:prstGeom prst="rect">
            <a:avLst/>
          </a:prstGeom>
          <a:solidFill>
            <a:srgbClr val="F7F9F7"/>
          </a:solidFill>
          <a:ln/>
          <a:effectLst>
            <a:outerShdw blurRad="101600" dist="38100" dir="8100000" algn="bl" rotWithShape="0">
              <a:srgbClr val="000000">
                <a:alpha val="10000"/>
              </a:srgbClr>
            </a:outerShdw>
          </a:effectLst>
        </p:spPr>
      </p:sp>
      <p:sp>
        <p:nvSpPr>
          <p:cNvPr id="11" name="Shape 7"/>
          <p:cNvSpPr/>
          <p:nvPr/>
        </p:nvSpPr>
        <p:spPr>
          <a:xfrm>
            <a:off x="3291840" y="3749040"/>
            <a:ext cx="2697480" cy="64008"/>
          </a:xfrm>
          <a:prstGeom prst="rect">
            <a:avLst/>
          </a:prstGeom>
          <a:solidFill>
            <a:srgbClr val="2D6A4F"/>
          </a:solidFill>
          <a:ln/>
        </p:spPr>
      </p:sp>
      <p:sp>
        <p:nvSpPr>
          <p:cNvPr id="12" name="Text 8"/>
          <p:cNvSpPr/>
          <p:nvPr/>
        </p:nvSpPr>
        <p:spPr>
          <a:xfrm>
            <a:off x="3383280" y="3840480"/>
            <a:ext cx="2514600" cy="347472"/>
          </a:xfrm>
          <a:prstGeom prst="rect">
            <a:avLst/>
          </a:prstGeom>
          <a:noFill/>
          <a:ln/>
        </p:spPr>
        <p:txBody>
          <a:bodyPr wrap="square" lIns="0" tIns="0" rIns="0" bIns="0" rtlCol="0" anchor="ctr"/>
          <a:lstStyle/>
          <a:p>
            <a:pPr marL="0" indent="0">
              <a:buNone/>
            </a:pPr>
            <a:r>
              <a:rPr lang="en-US" sz="1050" b="1" dirty="0">
                <a:solidFill>
                  <a:srgbClr val="1B4332"/>
                </a:solidFill>
                <a:latin typeface="Georgia" pitchFamily="34" charset="0"/>
                <a:ea typeface="Georgia" pitchFamily="34" charset="-122"/>
                <a:cs typeface="Georgia" pitchFamily="34" charset="-120"/>
              </a:rPr>
              <a:t>State of residence is one of the strongest predictors.</a:t>
            </a:r>
            <a:endParaRPr lang="en-US" sz="1050" dirty="0"/>
          </a:p>
        </p:txBody>
      </p:sp>
      <p:sp>
        <p:nvSpPr>
          <p:cNvPr id="13" name="Text 9"/>
          <p:cNvSpPr/>
          <p:nvPr/>
        </p:nvSpPr>
        <p:spPr>
          <a:xfrm>
            <a:off x="3383280" y="4206240"/>
            <a:ext cx="2514600" cy="54864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Rajasthan, Punjab, Haryana farmers earn nearly twice the median compared to Bihar and Gujarat farmers.</a:t>
            </a:r>
            <a:endParaRPr lang="en-US" sz="1000" dirty="0"/>
          </a:p>
        </p:txBody>
      </p:sp>
      <p:sp>
        <p:nvSpPr>
          <p:cNvPr id="14" name="Shape 10"/>
          <p:cNvSpPr/>
          <p:nvPr/>
        </p:nvSpPr>
        <p:spPr>
          <a:xfrm>
            <a:off x="6217920" y="3749040"/>
            <a:ext cx="2697480" cy="1097280"/>
          </a:xfrm>
          <a:prstGeom prst="rect">
            <a:avLst/>
          </a:prstGeom>
          <a:solidFill>
            <a:srgbClr val="F7F9F7"/>
          </a:solidFill>
          <a:ln/>
          <a:effectLst>
            <a:outerShdw blurRad="101600" dist="38100" dir="8100000" algn="bl" rotWithShape="0">
              <a:srgbClr val="000000">
                <a:alpha val="10000"/>
              </a:srgbClr>
            </a:outerShdw>
          </a:effectLst>
        </p:spPr>
      </p:sp>
      <p:sp>
        <p:nvSpPr>
          <p:cNvPr id="15" name="Shape 11"/>
          <p:cNvSpPr/>
          <p:nvPr/>
        </p:nvSpPr>
        <p:spPr>
          <a:xfrm>
            <a:off x="6217920" y="3749040"/>
            <a:ext cx="2697480" cy="64008"/>
          </a:xfrm>
          <a:prstGeom prst="rect">
            <a:avLst/>
          </a:prstGeom>
          <a:solidFill>
            <a:srgbClr val="2D6A4F"/>
          </a:solidFill>
          <a:ln/>
        </p:spPr>
      </p:sp>
      <p:sp>
        <p:nvSpPr>
          <p:cNvPr id="16" name="Text 12"/>
          <p:cNvSpPr/>
          <p:nvPr/>
        </p:nvSpPr>
        <p:spPr>
          <a:xfrm>
            <a:off x="6309360" y="3840480"/>
            <a:ext cx="2514600" cy="347472"/>
          </a:xfrm>
          <a:prstGeom prst="rect">
            <a:avLst/>
          </a:prstGeom>
          <a:noFill/>
          <a:ln/>
        </p:spPr>
        <p:txBody>
          <a:bodyPr wrap="square" lIns="0" tIns="0" rIns="0" bIns="0" rtlCol="0" anchor="ctr"/>
          <a:lstStyle/>
          <a:p>
            <a:pPr marL="0" indent="0">
              <a:buNone/>
            </a:pPr>
            <a:r>
              <a:rPr lang="en-US" sz="1050" b="1" dirty="0">
                <a:solidFill>
                  <a:srgbClr val="1B4332"/>
                </a:solidFill>
                <a:latin typeface="Georgia" pitchFamily="34" charset="0"/>
                <a:ea typeface="Georgia" pitchFamily="34" charset="-122"/>
                <a:cs typeface="Georgia" pitchFamily="34" charset="-120"/>
              </a:rPr>
              <a:t>The gap is structural, not climatic.</a:t>
            </a:r>
            <a:endParaRPr lang="en-US" sz="1050" dirty="0"/>
          </a:p>
        </p:txBody>
      </p:sp>
      <p:sp>
        <p:nvSpPr>
          <p:cNvPr id="17" name="Text 13"/>
          <p:cNvSpPr/>
          <p:nvPr/>
        </p:nvSpPr>
        <p:spPr>
          <a:xfrm>
            <a:off x="6309360" y="4206240"/>
            <a:ext cx="2514600" cy="54864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High-income states share better irrigation infrastructure and market access, not better weather.</a:t>
            </a:r>
            <a:endParaRPr lang="en-US" sz="1000" dirty="0"/>
          </a:p>
        </p:txBody>
      </p:sp>
      <p:sp>
        <p:nvSpPr>
          <p:cNvPr id="18" name="Text 14"/>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07</a:t>
            </a:r>
            <a:endParaRPr lang="en-US" sz="1600" dirty="0"/>
          </a:p>
        </p:txBody>
      </p:sp>
      <p:pic>
        <p:nvPicPr>
          <p:cNvPr id="20" name="Picture 19">
            <a:extLst>
              <a:ext uri="{FF2B5EF4-FFF2-40B4-BE49-F238E27FC236}">
                <a16:creationId xmlns:a16="http://schemas.microsoft.com/office/drawing/2014/main" id="{13B492C5-E753-15BC-BF40-D5DA7D1CC46B}"/>
              </a:ext>
            </a:extLst>
          </p:cNvPr>
          <p:cNvPicPr>
            <a:picLocks noChangeAspect="1"/>
          </p:cNvPicPr>
          <p:nvPr/>
        </p:nvPicPr>
        <p:blipFill>
          <a:blip r:embed="rId3"/>
          <a:stretch>
            <a:fillRect/>
          </a:stretch>
        </p:blipFill>
        <p:spPr>
          <a:xfrm>
            <a:off x="253438" y="811177"/>
            <a:ext cx="3231970" cy="2824051"/>
          </a:xfrm>
          <a:prstGeom prst="rect">
            <a:avLst/>
          </a:prstGeom>
        </p:spPr>
      </p:pic>
      <p:pic>
        <p:nvPicPr>
          <p:cNvPr id="22" name="Picture 21">
            <a:extLst>
              <a:ext uri="{FF2B5EF4-FFF2-40B4-BE49-F238E27FC236}">
                <a16:creationId xmlns:a16="http://schemas.microsoft.com/office/drawing/2014/main" id="{29629C09-DE41-7ACE-FC03-1D9E5B417627}"/>
              </a:ext>
            </a:extLst>
          </p:cNvPr>
          <p:cNvPicPr>
            <a:picLocks noChangeAspect="1"/>
          </p:cNvPicPr>
          <p:nvPr/>
        </p:nvPicPr>
        <p:blipFill>
          <a:blip r:embed="rId4"/>
          <a:stretch>
            <a:fillRect/>
          </a:stretch>
        </p:blipFill>
        <p:spPr>
          <a:xfrm>
            <a:off x="3946329" y="795528"/>
            <a:ext cx="4543182" cy="27706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EDA -  What Actually Drives Income</a:t>
            </a:r>
            <a:endParaRPr lang="en-US" sz="2600" dirty="0"/>
          </a:p>
        </p:txBody>
      </p:sp>
      <p:pic>
        <p:nvPicPr>
          <p:cNvPr id="4" name="Image 0" descr="/home/claude/charts/chart_agri_scores.png"/>
          <p:cNvPicPr>
            <a:picLocks noChangeAspect="1"/>
          </p:cNvPicPr>
          <p:nvPr/>
        </p:nvPicPr>
        <p:blipFill>
          <a:blip r:embed="rId3"/>
          <a:stretch>
            <a:fillRect/>
          </a:stretch>
        </p:blipFill>
        <p:spPr>
          <a:xfrm>
            <a:off x="365760" y="896112"/>
            <a:ext cx="5029200" cy="2286000"/>
          </a:xfrm>
          <a:prstGeom prst="rect">
            <a:avLst/>
          </a:prstGeom>
        </p:spPr>
      </p:pic>
      <p:sp>
        <p:nvSpPr>
          <p:cNvPr id="6" name="Shape 2"/>
          <p:cNvSpPr/>
          <p:nvPr/>
        </p:nvSpPr>
        <p:spPr>
          <a:xfrm>
            <a:off x="365760" y="3291840"/>
            <a:ext cx="2697480" cy="1508760"/>
          </a:xfrm>
          <a:prstGeom prst="rect">
            <a:avLst/>
          </a:prstGeom>
          <a:solidFill>
            <a:srgbClr val="F7F9F7"/>
          </a:solidFill>
          <a:ln/>
          <a:effectLst>
            <a:outerShdw blurRad="101600" dist="38100" dir="8100000" algn="bl" rotWithShape="0">
              <a:srgbClr val="000000">
                <a:alpha val="10000"/>
              </a:srgbClr>
            </a:outerShdw>
          </a:effectLst>
        </p:spPr>
      </p:sp>
      <p:sp>
        <p:nvSpPr>
          <p:cNvPr id="7" name="Shape 3"/>
          <p:cNvSpPr/>
          <p:nvPr/>
        </p:nvSpPr>
        <p:spPr>
          <a:xfrm>
            <a:off x="365760" y="3291840"/>
            <a:ext cx="64008" cy="1508760"/>
          </a:xfrm>
          <a:prstGeom prst="rect">
            <a:avLst/>
          </a:prstGeom>
          <a:solidFill>
            <a:srgbClr val="52B788"/>
          </a:solidFill>
          <a:ln/>
        </p:spPr>
      </p:sp>
      <p:sp>
        <p:nvSpPr>
          <p:cNvPr id="8" name="Text 4"/>
          <p:cNvSpPr/>
          <p:nvPr/>
        </p:nvSpPr>
        <p:spPr>
          <a:xfrm>
            <a:off x="502920" y="3364992"/>
            <a:ext cx="2423160" cy="329184"/>
          </a:xfrm>
          <a:prstGeom prst="rect">
            <a:avLst/>
          </a:prstGeom>
          <a:noFill/>
          <a:ln/>
        </p:spPr>
        <p:txBody>
          <a:bodyPr wrap="square" lIns="0" tIns="0" rIns="0" bIns="0" rtlCol="0" anchor="ctr"/>
          <a:lstStyle/>
          <a:p>
            <a:pPr marL="0" indent="0">
              <a:buNone/>
            </a:pPr>
            <a:r>
              <a:rPr lang="en-US" sz="1100" b="1" dirty="0">
                <a:solidFill>
                  <a:srgbClr val="1B4332"/>
                </a:solidFill>
                <a:latin typeface="Georgia" pitchFamily="34" charset="0"/>
                <a:ea typeface="Georgia" pitchFamily="34" charset="-122"/>
                <a:cs typeface="Georgia" pitchFamily="34" charset="-120"/>
              </a:rPr>
              <a:t>Farming quality alone</a:t>
            </a:r>
            <a:endParaRPr lang="en-US" sz="1100" dirty="0"/>
          </a:p>
        </p:txBody>
      </p:sp>
      <p:sp>
        <p:nvSpPr>
          <p:cNvPr id="9" name="Text 5"/>
          <p:cNvSpPr/>
          <p:nvPr/>
        </p:nvSpPr>
        <p:spPr>
          <a:xfrm>
            <a:off x="502920" y="3712464"/>
            <a:ext cx="2423160" cy="100584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Agricultural scores are nearly identical across low, mid, and high income groups. Being a good farmer does not make you a wealthy one.</a:t>
            </a:r>
            <a:endParaRPr lang="en-US" sz="1050" dirty="0"/>
          </a:p>
        </p:txBody>
      </p:sp>
      <p:sp>
        <p:nvSpPr>
          <p:cNvPr id="10" name="Shape 6"/>
          <p:cNvSpPr/>
          <p:nvPr/>
        </p:nvSpPr>
        <p:spPr>
          <a:xfrm>
            <a:off x="3291840" y="3291840"/>
            <a:ext cx="2697480" cy="1508760"/>
          </a:xfrm>
          <a:prstGeom prst="rect">
            <a:avLst/>
          </a:prstGeom>
          <a:solidFill>
            <a:srgbClr val="F7F9F7"/>
          </a:solidFill>
          <a:ln/>
          <a:effectLst>
            <a:outerShdw blurRad="101600" dist="38100" dir="8100000" algn="bl" rotWithShape="0">
              <a:srgbClr val="000000">
                <a:alpha val="10000"/>
              </a:srgbClr>
            </a:outerShdw>
          </a:effectLst>
        </p:spPr>
      </p:sp>
      <p:sp>
        <p:nvSpPr>
          <p:cNvPr id="11" name="Shape 7"/>
          <p:cNvSpPr/>
          <p:nvPr/>
        </p:nvSpPr>
        <p:spPr>
          <a:xfrm>
            <a:off x="3291840" y="3291840"/>
            <a:ext cx="64008" cy="1508760"/>
          </a:xfrm>
          <a:prstGeom prst="rect">
            <a:avLst/>
          </a:prstGeom>
          <a:solidFill>
            <a:srgbClr val="52B788"/>
          </a:solidFill>
          <a:ln/>
        </p:spPr>
      </p:sp>
      <p:sp>
        <p:nvSpPr>
          <p:cNvPr id="12" name="Text 8"/>
          <p:cNvSpPr/>
          <p:nvPr/>
        </p:nvSpPr>
        <p:spPr>
          <a:xfrm>
            <a:off x="3429000" y="3364992"/>
            <a:ext cx="2423160" cy="329184"/>
          </a:xfrm>
          <a:prstGeom prst="rect">
            <a:avLst/>
          </a:prstGeom>
          <a:noFill/>
          <a:ln/>
        </p:spPr>
        <p:txBody>
          <a:bodyPr wrap="square" lIns="0" tIns="0" rIns="0" bIns="0" rtlCol="0" anchor="ctr"/>
          <a:lstStyle/>
          <a:p>
            <a:pPr marL="0" indent="0">
              <a:buNone/>
            </a:pPr>
            <a:r>
              <a:rPr lang="en-US" sz="1100" b="1" dirty="0">
                <a:solidFill>
                  <a:srgbClr val="1B4332"/>
                </a:solidFill>
                <a:latin typeface="Georgia" pitchFamily="34" charset="0"/>
                <a:ea typeface="Georgia" pitchFamily="34" charset="-122"/>
                <a:cs typeface="Georgia" pitchFamily="34" charset="-120"/>
              </a:rPr>
              <a:t>Non-agricultural income</a:t>
            </a:r>
            <a:endParaRPr lang="en-US" sz="1100" dirty="0"/>
          </a:p>
        </p:txBody>
      </p:sp>
      <p:sp>
        <p:nvSpPr>
          <p:cNvPr id="13" name="Text 9"/>
          <p:cNvSpPr/>
          <p:nvPr/>
        </p:nvSpPr>
        <p:spPr>
          <a:xfrm>
            <a:off x="3429000" y="3712464"/>
            <a:ext cx="2423160" cy="100584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Dominates all other features by a huge margin (r = 0.91). Farmers with off-farm income sources are structurally wealthier.</a:t>
            </a:r>
            <a:endParaRPr lang="en-US" sz="1050" dirty="0"/>
          </a:p>
        </p:txBody>
      </p:sp>
      <p:sp>
        <p:nvSpPr>
          <p:cNvPr id="14" name="Shape 10"/>
          <p:cNvSpPr/>
          <p:nvPr/>
        </p:nvSpPr>
        <p:spPr>
          <a:xfrm>
            <a:off x="6217920" y="3291840"/>
            <a:ext cx="2697480" cy="1508760"/>
          </a:xfrm>
          <a:prstGeom prst="rect">
            <a:avLst/>
          </a:prstGeom>
          <a:solidFill>
            <a:srgbClr val="F7F9F7"/>
          </a:solidFill>
          <a:ln/>
          <a:effectLst>
            <a:outerShdw blurRad="101600" dist="38100" dir="8100000" algn="bl" rotWithShape="0">
              <a:srgbClr val="000000">
                <a:alpha val="10000"/>
              </a:srgbClr>
            </a:outerShdw>
          </a:effectLst>
        </p:spPr>
      </p:sp>
      <p:sp>
        <p:nvSpPr>
          <p:cNvPr id="15" name="Shape 11"/>
          <p:cNvSpPr/>
          <p:nvPr/>
        </p:nvSpPr>
        <p:spPr>
          <a:xfrm>
            <a:off x="6217920" y="3291840"/>
            <a:ext cx="64008" cy="1508760"/>
          </a:xfrm>
          <a:prstGeom prst="rect">
            <a:avLst/>
          </a:prstGeom>
          <a:solidFill>
            <a:srgbClr val="52B788"/>
          </a:solidFill>
          <a:ln/>
        </p:spPr>
      </p:sp>
      <p:sp>
        <p:nvSpPr>
          <p:cNvPr id="16" name="Text 12"/>
          <p:cNvSpPr/>
          <p:nvPr/>
        </p:nvSpPr>
        <p:spPr>
          <a:xfrm>
            <a:off x="6355080" y="3364992"/>
            <a:ext cx="2423160" cy="329184"/>
          </a:xfrm>
          <a:prstGeom prst="rect">
            <a:avLst/>
          </a:prstGeom>
          <a:noFill/>
          <a:ln/>
        </p:spPr>
        <p:txBody>
          <a:bodyPr wrap="square" lIns="0" tIns="0" rIns="0" bIns="0" rtlCol="0" anchor="ctr"/>
          <a:lstStyle/>
          <a:p>
            <a:pPr marL="0" indent="0">
              <a:buNone/>
            </a:pPr>
            <a:r>
              <a:rPr lang="en-US" sz="1100" b="1" dirty="0">
                <a:solidFill>
                  <a:srgbClr val="1B4332"/>
                </a:solidFill>
                <a:latin typeface="Georgia" pitchFamily="34" charset="0"/>
                <a:ea typeface="Georgia" pitchFamily="34" charset="-122"/>
                <a:cs typeface="Georgia" pitchFamily="34" charset="-120"/>
              </a:rPr>
              <a:t>Rainfall does not matter</a:t>
            </a:r>
            <a:endParaRPr lang="en-US" sz="1100" dirty="0"/>
          </a:p>
        </p:txBody>
      </p:sp>
      <p:sp>
        <p:nvSpPr>
          <p:cNvPr id="17" name="Text 13"/>
          <p:cNvSpPr/>
          <p:nvPr/>
        </p:nvSpPr>
        <p:spPr>
          <a:xfrm>
            <a:off x="6355080" y="3712464"/>
            <a:ext cx="2423160" cy="100584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Farmers at every income level cluster similarly regardless of rainfall. Infrastructure, not weather, is the dividing factor.</a:t>
            </a:r>
            <a:endParaRPr lang="en-US" sz="1050" dirty="0"/>
          </a:p>
        </p:txBody>
      </p:sp>
      <p:sp>
        <p:nvSpPr>
          <p:cNvPr id="18" name="Text 14"/>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08</a:t>
            </a:r>
            <a:endParaRPr lang="en-US" sz="1600" dirty="0"/>
          </a:p>
        </p:txBody>
      </p:sp>
      <p:pic>
        <p:nvPicPr>
          <p:cNvPr id="20" name="Picture 19">
            <a:extLst>
              <a:ext uri="{FF2B5EF4-FFF2-40B4-BE49-F238E27FC236}">
                <a16:creationId xmlns:a16="http://schemas.microsoft.com/office/drawing/2014/main" id="{E3805AD6-724F-323D-3E7E-951FE3A31648}"/>
              </a:ext>
            </a:extLst>
          </p:cNvPr>
          <p:cNvPicPr>
            <a:picLocks noChangeAspect="1"/>
          </p:cNvPicPr>
          <p:nvPr/>
        </p:nvPicPr>
        <p:blipFill>
          <a:blip r:embed="rId4"/>
          <a:stretch>
            <a:fillRect/>
          </a:stretch>
        </p:blipFill>
        <p:spPr>
          <a:xfrm>
            <a:off x="6034874" y="896112"/>
            <a:ext cx="2743366" cy="22789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Model 1 -  Random Forest</a:t>
            </a:r>
            <a:endParaRPr lang="en-US" sz="2600" dirty="0"/>
          </a:p>
        </p:txBody>
      </p:sp>
      <p:sp>
        <p:nvSpPr>
          <p:cNvPr id="4" name="Shape 2"/>
          <p:cNvSpPr/>
          <p:nvPr/>
        </p:nvSpPr>
        <p:spPr>
          <a:xfrm>
            <a:off x="365760" y="914400"/>
            <a:ext cx="4206240" cy="1417320"/>
          </a:xfrm>
          <a:prstGeom prst="rect">
            <a:avLst/>
          </a:prstGeom>
          <a:solidFill>
            <a:srgbClr val="F7F9F7"/>
          </a:solidFill>
          <a:ln/>
          <a:effectLst>
            <a:outerShdw blurRad="101600" dist="38100" dir="8100000" algn="bl" rotWithShape="0">
              <a:srgbClr val="000000">
                <a:alpha val="10000"/>
              </a:srgbClr>
            </a:outerShdw>
          </a:effectLst>
        </p:spPr>
      </p:sp>
      <p:sp>
        <p:nvSpPr>
          <p:cNvPr id="5" name="Shape 3"/>
          <p:cNvSpPr/>
          <p:nvPr/>
        </p:nvSpPr>
        <p:spPr>
          <a:xfrm>
            <a:off x="365760" y="914400"/>
            <a:ext cx="64008" cy="1417320"/>
          </a:xfrm>
          <a:prstGeom prst="rect">
            <a:avLst/>
          </a:prstGeom>
          <a:solidFill>
            <a:srgbClr val="2D6A4F"/>
          </a:solidFill>
          <a:ln/>
        </p:spPr>
      </p:sp>
      <p:sp>
        <p:nvSpPr>
          <p:cNvPr id="6" name="Text 4"/>
          <p:cNvSpPr/>
          <p:nvPr/>
        </p:nvSpPr>
        <p:spPr>
          <a:xfrm>
            <a:off x="521208" y="987552"/>
            <a:ext cx="3886200" cy="274320"/>
          </a:xfrm>
          <a:prstGeom prst="rect">
            <a:avLst/>
          </a:prstGeom>
          <a:noFill/>
          <a:ln/>
        </p:spPr>
        <p:txBody>
          <a:bodyPr wrap="square" lIns="0" tIns="0" rIns="0" bIns="0" rtlCol="0" anchor="ctr"/>
          <a:lstStyle/>
          <a:p>
            <a:pPr marL="0" indent="0">
              <a:buNone/>
            </a:pPr>
            <a:r>
              <a:rPr lang="en-US" sz="1200" b="1" dirty="0">
                <a:solidFill>
                  <a:srgbClr val="1B4332"/>
                </a:solidFill>
                <a:latin typeface="Georgia" pitchFamily="34" charset="0"/>
                <a:ea typeface="Georgia" pitchFamily="34" charset="-122"/>
                <a:cs typeface="Georgia" pitchFamily="34" charset="-120"/>
              </a:rPr>
              <a:t>What it does</a:t>
            </a:r>
            <a:endParaRPr lang="en-US" sz="1200" dirty="0"/>
          </a:p>
        </p:txBody>
      </p:sp>
      <p:sp>
        <p:nvSpPr>
          <p:cNvPr id="7" name="Text 5"/>
          <p:cNvSpPr/>
          <p:nvPr/>
        </p:nvSpPr>
        <p:spPr>
          <a:xfrm>
            <a:off x="521208" y="1298448"/>
            <a:ext cx="3886200" cy="9144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Builds hundreds of independent decision trees, each trained on a random subset of data and features. Averages all their predictions. Randomness gives diversity, averaging diverse predictions beats any single tree.</a:t>
            </a:r>
            <a:endParaRPr lang="en-US" sz="1100" dirty="0"/>
          </a:p>
        </p:txBody>
      </p:sp>
      <p:sp>
        <p:nvSpPr>
          <p:cNvPr id="8" name="Shape 6"/>
          <p:cNvSpPr/>
          <p:nvPr/>
        </p:nvSpPr>
        <p:spPr>
          <a:xfrm>
            <a:off x="4800600" y="914400"/>
            <a:ext cx="3977640" cy="1417320"/>
          </a:xfrm>
          <a:prstGeom prst="rect">
            <a:avLst/>
          </a:prstGeom>
          <a:solidFill>
            <a:srgbClr val="1B4332"/>
          </a:solidFill>
          <a:ln/>
          <a:effectLst>
            <a:outerShdw blurRad="101600" dist="38100" dir="8100000" algn="bl" rotWithShape="0">
              <a:srgbClr val="000000">
                <a:alpha val="10000"/>
              </a:srgbClr>
            </a:outerShdw>
          </a:effectLst>
        </p:spPr>
      </p:sp>
      <p:sp>
        <p:nvSpPr>
          <p:cNvPr id="9" name="Text 7"/>
          <p:cNvSpPr/>
          <p:nvPr/>
        </p:nvSpPr>
        <p:spPr>
          <a:xfrm>
            <a:off x="4937760" y="987552"/>
            <a:ext cx="3703320" cy="274320"/>
          </a:xfrm>
          <a:prstGeom prst="rect">
            <a:avLst/>
          </a:prstGeom>
          <a:noFill/>
          <a:ln/>
        </p:spPr>
        <p:txBody>
          <a:bodyPr wrap="square" lIns="0" tIns="0" rIns="0" bIns="0" rtlCol="0" anchor="ctr"/>
          <a:lstStyle/>
          <a:p>
            <a:pPr marL="0" indent="0">
              <a:buNone/>
            </a:pPr>
            <a:r>
              <a:rPr lang="en-US" sz="1200" b="1" dirty="0">
                <a:solidFill>
                  <a:srgbClr val="52B788"/>
                </a:solidFill>
                <a:latin typeface="Georgia" pitchFamily="34" charset="0"/>
                <a:ea typeface="Georgia" pitchFamily="34" charset="-122"/>
                <a:cs typeface="Georgia" pitchFamily="34" charset="-120"/>
              </a:rPr>
              <a:t>Tuned Hyperparameters</a:t>
            </a:r>
            <a:endParaRPr lang="en-US" sz="1200" dirty="0"/>
          </a:p>
        </p:txBody>
      </p:sp>
      <p:sp>
        <p:nvSpPr>
          <p:cNvPr id="10" name="Text 8"/>
          <p:cNvSpPr/>
          <p:nvPr/>
        </p:nvSpPr>
        <p:spPr>
          <a:xfrm>
            <a:off x="4937760" y="1298448"/>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n_estimators</a:t>
            </a:r>
            <a:endParaRPr lang="en-US" sz="1050" dirty="0"/>
          </a:p>
        </p:txBody>
      </p:sp>
      <p:sp>
        <p:nvSpPr>
          <p:cNvPr id="11" name="Text 9"/>
          <p:cNvSpPr/>
          <p:nvPr/>
        </p:nvSpPr>
        <p:spPr>
          <a:xfrm>
            <a:off x="7269480" y="1298448"/>
            <a:ext cx="1371600" cy="228600"/>
          </a:xfrm>
          <a:prstGeom prst="rect">
            <a:avLst/>
          </a:prstGeom>
          <a:noFill/>
          <a:ln/>
        </p:spPr>
        <p:txBody>
          <a:bodyPr wrap="square" lIns="0" tIns="0" rIns="0" bIns="0" rtlCol="0" anchor="ctr"/>
          <a:lstStyle/>
          <a:p>
            <a:pPr marL="0" indent="0" algn="r">
              <a:buNone/>
            </a:pPr>
            <a:r>
              <a:rPr lang="en-US" sz="1050" b="1" dirty="0">
                <a:solidFill>
                  <a:srgbClr val="C9963A"/>
                </a:solidFill>
                <a:latin typeface="Courier New" pitchFamily="34" charset="0"/>
                <a:ea typeface="Courier New" pitchFamily="34" charset="-122"/>
                <a:cs typeface="Courier New" pitchFamily="34" charset="-120"/>
              </a:rPr>
              <a:t>700</a:t>
            </a:r>
            <a:endParaRPr lang="en-US" sz="1050" dirty="0"/>
          </a:p>
        </p:txBody>
      </p:sp>
      <p:sp>
        <p:nvSpPr>
          <p:cNvPr id="12" name="Text 10"/>
          <p:cNvSpPr/>
          <p:nvPr/>
        </p:nvSpPr>
        <p:spPr>
          <a:xfrm>
            <a:off x="4937760" y="1545336"/>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max_depth</a:t>
            </a:r>
            <a:endParaRPr lang="en-US" sz="1050" dirty="0"/>
          </a:p>
        </p:txBody>
      </p:sp>
      <p:sp>
        <p:nvSpPr>
          <p:cNvPr id="13" name="Text 11"/>
          <p:cNvSpPr/>
          <p:nvPr/>
        </p:nvSpPr>
        <p:spPr>
          <a:xfrm>
            <a:off x="7269480" y="1545336"/>
            <a:ext cx="1371600" cy="228600"/>
          </a:xfrm>
          <a:prstGeom prst="rect">
            <a:avLst/>
          </a:prstGeom>
          <a:noFill/>
          <a:ln/>
        </p:spPr>
        <p:txBody>
          <a:bodyPr wrap="square" lIns="0" tIns="0" rIns="0" bIns="0" rtlCol="0" anchor="ctr"/>
          <a:lstStyle/>
          <a:p>
            <a:pPr marL="0" indent="0" algn="r">
              <a:buNone/>
            </a:pPr>
            <a:r>
              <a:rPr lang="en-US" sz="1050" b="1" dirty="0">
                <a:solidFill>
                  <a:srgbClr val="C9963A"/>
                </a:solidFill>
                <a:latin typeface="Courier New" pitchFamily="34" charset="0"/>
                <a:ea typeface="Courier New" pitchFamily="34" charset="-122"/>
                <a:cs typeface="Courier New" pitchFamily="34" charset="-120"/>
              </a:rPr>
              <a:t>15</a:t>
            </a:r>
            <a:endParaRPr lang="en-US" sz="1050" dirty="0"/>
          </a:p>
        </p:txBody>
      </p:sp>
      <p:sp>
        <p:nvSpPr>
          <p:cNvPr id="14" name="Text 12"/>
          <p:cNvSpPr/>
          <p:nvPr/>
        </p:nvSpPr>
        <p:spPr>
          <a:xfrm>
            <a:off x="4937760" y="1792224"/>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min_samples_split</a:t>
            </a:r>
            <a:endParaRPr lang="en-US" sz="1050" dirty="0"/>
          </a:p>
        </p:txBody>
      </p:sp>
      <p:sp>
        <p:nvSpPr>
          <p:cNvPr id="15" name="Text 13"/>
          <p:cNvSpPr/>
          <p:nvPr/>
        </p:nvSpPr>
        <p:spPr>
          <a:xfrm>
            <a:off x="7269480" y="1792224"/>
            <a:ext cx="1371600" cy="228600"/>
          </a:xfrm>
          <a:prstGeom prst="rect">
            <a:avLst/>
          </a:prstGeom>
          <a:noFill/>
          <a:ln/>
        </p:spPr>
        <p:txBody>
          <a:bodyPr wrap="square" lIns="0" tIns="0" rIns="0" bIns="0" rtlCol="0" anchor="ctr"/>
          <a:lstStyle/>
          <a:p>
            <a:pPr marL="0" indent="0" algn="r">
              <a:buNone/>
            </a:pPr>
            <a:r>
              <a:rPr lang="en-US" sz="1050" b="1" dirty="0">
                <a:solidFill>
                  <a:srgbClr val="C9963A"/>
                </a:solidFill>
                <a:latin typeface="Courier New" pitchFamily="34" charset="0"/>
                <a:ea typeface="Courier New" pitchFamily="34" charset="-122"/>
                <a:cs typeface="Courier New" pitchFamily="34" charset="-120"/>
              </a:rPr>
              <a:t>5</a:t>
            </a:r>
            <a:endParaRPr lang="en-US" sz="1050" dirty="0"/>
          </a:p>
        </p:txBody>
      </p:sp>
      <p:sp>
        <p:nvSpPr>
          <p:cNvPr id="16" name="Text 14"/>
          <p:cNvSpPr/>
          <p:nvPr/>
        </p:nvSpPr>
        <p:spPr>
          <a:xfrm>
            <a:off x="4937760" y="2039112"/>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max_features</a:t>
            </a:r>
            <a:endParaRPr lang="en-US" sz="1050" dirty="0"/>
          </a:p>
        </p:txBody>
      </p:sp>
      <p:sp>
        <p:nvSpPr>
          <p:cNvPr id="17" name="Text 15"/>
          <p:cNvSpPr/>
          <p:nvPr/>
        </p:nvSpPr>
        <p:spPr>
          <a:xfrm>
            <a:off x="7269480" y="2039112"/>
            <a:ext cx="1371600" cy="228600"/>
          </a:xfrm>
          <a:prstGeom prst="rect">
            <a:avLst/>
          </a:prstGeom>
          <a:noFill/>
          <a:ln/>
        </p:spPr>
        <p:txBody>
          <a:bodyPr wrap="square" lIns="0" tIns="0" rIns="0" bIns="0" rtlCol="0" anchor="ctr"/>
          <a:lstStyle/>
          <a:p>
            <a:pPr marL="0" indent="0" algn="r">
              <a:buNone/>
            </a:pPr>
            <a:r>
              <a:rPr lang="en-US" sz="1050" b="1" dirty="0">
                <a:solidFill>
                  <a:srgbClr val="C9963A"/>
                </a:solidFill>
                <a:latin typeface="Courier New" pitchFamily="34" charset="0"/>
                <a:ea typeface="Courier New" pitchFamily="34" charset="-122"/>
                <a:cs typeface="Courier New" pitchFamily="34" charset="-120"/>
              </a:rPr>
              <a:t>sqrt</a:t>
            </a:r>
            <a:endParaRPr lang="en-US" sz="1050" dirty="0"/>
          </a:p>
        </p:txBody>
      </p:sp>
      <p:sp>
        <p:nvSpPr>
          <p:cNvPr id="18" name="Shape 16"/>
          <p:cNvSpPr/>
          <p:nvPr/>
        </p:nvSpPr>
        <p:spPr>
          <a:xfrm>
            <a:off x="365760" y="2468880"/>
            <a:ext cx="8412480" cy="1691640"/>
          </a:xfrm>
          <a:prstGeom prst="rect">
            <a:avLst/>
          </a:prstGeom>
          <a:solidFill>
            <a:srgbClr val="1E2029"/>
          </a:solidFill>
          <a:ln/>
        </p:spPr>
      </p:sp>
      <p:sp>
        <p:nvSpPr>
          <p:cNvPr id="19" name="Text 17"/>
          <p:cNvSpPr/>
          <p:nvPr/>
        </p:nvSpPr>
        <p:spPr>
          <a:xfrm>
            <a:off x="365760" y="2468880"/>
            <a:ext cx="8412480" cy="256032"/>
          </a:xfrm>
          <a:prstGeom prst="rect">
            <a:avLst/>
          </a:prstGeom>
          <a:noFill/>
          <a:ln/>
        </p:spPr>
        <p:txBody>
          <a:bodyPr wrap="square" lIns="63500" tIns="63500" rIns="63500" bIns="63500" rtlCol="0" anchor="ctr"/>
          <a:lstStyle/>
          <a:p>
            <a:pPr marL="0" indent="0">
              <a:buNone/>
            </a:pPr>
            <a:r>
              <a:rPr lang="en-US" sz="900" dirty="0">
                <a:solidFill>
                  <a:srgbClr val="5C6370"/>
                </a:solidFill>
                <a:latin typeface="Courier New" pitchFamily="34" charset="0"/>
                <a:ea typeface="Courier New" pitchFamily="34" charset="-122"/>
                <a:cs typeface="Courier New" pitchFamily="34" charset="-120"/>
              </a:rPr>
              <a:t>python</a:t>
            </a:r>
            <a:endParaRPr lang="en-US" sz="900" dirty="0"/>
          </a:p>
        </p:txBody>
      </p:sp>
      <p:sp>
        <p:nvSpPr>
          <p:cNvPr id="20" name="Text 18"/>
          <p:cNvSpPr/>
          <p:nvPr/>
        </p:nvSpPr>
        <p:spPr>
          <a:xfrm>
            <a:off x="411480" y="2715768"/>
            <a:ext cx="8321040" cy="1371600"/>
          </a:xfrm>
          <a:prstGeom prst="rect">
            <a:avLst/>
          </a:prstGeom>
          <a:noFill/>
          <a:ln/>
        </p:spPr>
        <p:txBody>
          <a:bodyPr wrap="square" lIns="101600" tIns="101600" rIns="101600" bIns="101600" rtlCol="0" anchor="t"/>
          <a:lstStyle/>
          <a:p>
            <a:pPr marL="0" indent="0">
              <a:buNone/>
            </a:pPr>
            <a:r>
              <a:rPr lang="en-US" sz="1050" dirty="0">
                <a:solidFill>
                  <a:srgbClr val="ABB2BF"/>
                </a:solidFill>
                <a:latin typeface="Courier New" pitchFamily="34" charset="0"/>
                <a:ea typeface="Courier New" pitchFamily="34" charset="-122"/>
                <a:cs typeface="Courier New" pitchFamily="34" charset="-120"/>
              </a:rPr>
              <a:t>search_rf = RandomizedSearchCV(</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rf, param_distributions=param_dist_rf,</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n_iter=15, scoring="neg_mean_absolute_percentage_error",</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cv=3, n_jobs=-1, random_state=42</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search_rf.fit(X_tr, y_tr_log)</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best_rf = search_rf.best_estimator_</a:t>
            </a:r>
            <a:endParaRPr lang="en-US" sz="1050" dirty="0"/>
          </a:p>
        </p:txBody>
      </p:sp>
      <p:sp>
        <p:nvSpPr>
          <p:cNvPr id="21" name="Shape 19"/>
          <p:cNvSpPr/>
          <p:nvPr/>
        </p:nvSpPr>
        <p:spPr>
          <a:xfrm>
            <a:off x="365760" y="4251960"/>
            <a:ext cx="4160520" cy="594360"/>
          </a:xfrm>
          <a:prstGeom prst="rect">
            <a:avLst/>
          </a:prstGeom>
          <a:solidFill>
            <a:srgbClr val="F7F9F7"/>
          </a:solidFill>
          <a:ln/>
        </p:spPr>
      </p:sp>
      <p:sp>
        <p:nvSpPr>
          <p:cNvPr id="22" name="Text 20"/>
          <p:cNvSpPr/>
          <p:nvPr/>
        </p:nvSpPr>
        <p:spPr>
          <a:xfrm>
            <a:off x="457200" y="4279392"/>
            <a:ext cx="3977640" cy="50292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MAPE: 24.34%   |   R²: 0.373   |   Weakest of the three models but contributes unique signal to the ensemble</a:t>
            </a:r>
            <a:endParaRPr lang="en-US" sz="1050" dirty="0"/>
          </a:p>
        </p:txBody>
      </p:sp>
      <p:sp>
        <p:nvSpPr>
          <p:cNvPr id="23" name="Text 21"/>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09</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Model 2 -  LightGBM</a:t>
            </a:r>
            <a:endParaRPr lang="en-US" sz="2600" dirty="0"/>
          </a:p>
        </p:txBody>
      </p:sp>
      <p:sp>
        <p:nvSpPr>
          <p:cNvPr id="4" name="Shape 2"/>
          <p:cNvSpPr/>
          <p:nvPr/>
        </p:nvSpPr>
        <p:spPr>
          <a:xfrm>
            <a:off x="365760" y="914400"/>
            <a:ext cx="4206240" cy="1417320"/>
          </a:xfrm>
          <a:prstGeom prst="rect">
            <a:avLst/>
          </a:prstGeom>
          <a:solidFill>
            <a:srgbClr val="F7F9F7"/>
          </a:solidFill>
          <a:ln/>
          <a:effectLst>
            <a:outerShdw blurRad="101600" dist="38100" dir="8100000" algn="bl" rotWithShape="0">
              <a:srgbClr val="000000">
                <a:alpha val="10000"/>
              </a:srgbClr>
            </a:outerShdw>
          </a:effectLst>
        </p:spPr>
      </p:sp>
      <p:sp>
        <p:nvSpPr>
          <p:cNvPr id="5" name="Shape 3"/>
          <p:cNvSpPr/>
          <p:nvPr/>
        </p:nvSpPr>
        <p:spPr>
          <a:xfrm>
            <a:off x="365760" y="914400"/>
            <a:ext cx="64008" cy="1417320"/>
          </a:xfrm>
          <a:prstGeom prst="rect">
            <a:avLst/>
          </a:prstGeom>
          <a:solidFill>
            <a:srgbClr val="2D6A4F"/>
          </a:solidFill>
          <a:ln/>
        </p:spPr>
      </p:sp>
      <p:sp>
        <p:nvSpPr>
          <p:cNvPr id="6" name="Text 4"/>
          <p:cNvSpPr/>
          <p:nvPr/>
        </p:nvSpPr>
        <p:spPr>
          <a:xfrm>
            <a:off x="521208" y="987552"/>
            <a:ext cx="3886200" cy="274320"/>
          </a:xfrm>
          <a:prstGeom prst="rect">
            <a:avLst/>
          </a:prstGeom>
          <a:noFill/>
          <a:ln/>
        </p:spPr>
        <p:txBody>
          <a:bodyPr wrap="square" lIns="0" tIns="0" rIns="0" bIns="0" rtlCol="0" anchor="ctr"/>
          <a:lstStyle/>
          <a:p>
            <a:pPr marL="0" indent="0">
              <a:buNone/>
            </a:pPr>
            <a:r>
              <a:rPr lang="en-US" sz="1200" b="1" dirty="0">
                <a:solidFill>
                  <a:srgbClr val="1B4332"/>
                </a:solidFill>
                <a:latin typeface="Georgia" pitchFamily="34" charset="0"/>
                <a:ea typeface="Georgia" pitchFamily="34" charset="-122"/>
                <a:cs typeface="Georgia" pitchFamily="34" charset="-120"/>
              </a:rPr>
              <a:t>What it does</a:t>
            </a:r>
            <a:endParaRPr lang="en-US" sz="1200" dirty="0"/>
          </a:p>
        </p:txBody>
      </p:sp>
      <p:sp>
        <p:nvSpPr>
          <p:cNvPr id="7" name="Text 5"/>
          <p:cNvSpPr/>
          <p:nvPr/>
        </p:nvSpPr>
        <p:spPr>
          <a:xfrm>
            <a:off x="521208" y="1298448"/>
            <a:ext cx="3886200" cy="9144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Gradient boosting, builds trees sequentially. Each tree corrects the errors of the one before it. After thousands of corrections, predictions become highly precise. Uses MAPE as its training objective, so it directly optimises the competition metric.</a:t>
            </a:r>
            <a:endParaRPr lang="en-US" sz="1100" dirty="0"/>
          </a:p>
        </p:txBody>
      </p:sp>
      <p:sp>
        <p:nvSpPr>
          <p:cNvPr id="8" name="Shape 6"/>
          <p:cNvSpPr/>
          <p:nvPr/>
        </p:nvSpPr>
        <p:spPr>
          <a:xfrm>
            <a:off x="4800600" y="914400"/>
            <a:ext cx="3977640" cy="1417320"/>
          </a:xfrm>
          <a:prstGeom prst="rect">
            <a:avLst/>
          </a:prstGeom>
          <a:solidFill>
            <a:srgbClr val="1B4332"/>
          </a:solidFill>
          <a:ln/>
          <a:effectLst>
            <a:outerShdw blurRad="101600" dist="38100" dir="8100000" algn="bl" rotWithShape="0">
              <a:srgbClr val="000000">
                <a:alpha val="10000"/>
              </a:srgbClr>
            </a:outerShdw>
          </a:effectLst>
        </p:spPr>
      </p:sp>
      <p:sp>
        <p:nvSpPr>
          <p:cNvPr id="9" name="Text 7"/>
          <p:cNvSpPr/>
          <p:nvPr/>
        </p:nvSpPr>
        <p:spPr>
          <a:xfrm>
            <a:off x="4937760" y="987552"/>
            <a:ext cx="3703320" cy="274320"/>
          </a:xfrm>
          <a:prstGeom prst="rect">
            <a:avLst/>
          </a:prstGeom>
          <a:noFill/>
          <a:ln/>
        </p:spPr>
        <p:txBody>
          <a:bodyPr wrap="square" lIns="0" tIns="0" rIns="0" bIns="0" rtlCol="0" anchor="ctr"/>
          <a:lstStyle/>
          <a:p>
            <a:pPr marL="0" indent="0">
              <a:buNone/>
            </a:pPr>
            <a:r>
              <a:rPr lang="en-US" sz="1200" b="1" dirty="0">
                <a:solidFill>
                  <a:srgbClr val="52B788"/>
                </a:solidFill>
                <a:latin typeface="Georgia" pitchFamily="34" charset="0"/>
                <a:ea typeface="Georgia" pitchFamily="34" charset="-122"/>
                <a:cs typeface="Georgia" pitchFamily="34" charset="-120"/>
              </a:rPr>
              <a:t>Key Settings</a:t>
            </a:r>
            <a:endParaRPr lang="en-US" sz="1200" dirty="0"/>
          </a:p>
        </p:txBody>
      </p:sp>
      <p:sp>
        <p:nvSpPr>
          <p:cNvPr id="10" name="Text 8"/>
          <p:cNvSpPr/>
          <p:nvPr/>
        </p:nvSpPr>
        <p:spPr>
          <a:xfrm>
            <a:off x="4937760" y="1298448"/>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objective</a:t>
            </a:r>
            <a:endParaRPr lang="en-US" sz="1050" dirty="0"/>
          </a:p>
        </p:txBody>
      </p:sp>
      <p:sp>
        <p:nvSpPr>
          <p:cNvPr id="11" name="Text 9"/>
          <p:cNvSpPr/>
          <p:nvPr/>
        </p:nvSpPr>
        <p:spPr>
          <a:xfrm>
            <a:off x="7269480" y="1298448"/>
            <a:ext cx="1371600" cy="228600"/>
          </a:xfrm>
          <a:prstGeom prst="rect">
            <a:avLst/>
          </a:prstGeom>
          <a:noFill/>
          <a:ln/>
        </p:spPr>
        <p:txBody>
          <a:bodyPr wrap="square" lIns="0" tIns="0" rIns="0" bIns="0" rtlCol="0" anchor="ctr"/>
          <a:lstStyle/>
          <a:p>
            <a:pPr marL="0" indent="0" algn="r">
              <a:buNone/>
            </a:pPr>
            <a:r>
              <a:rPr lang="en-US" sz="1050" b="1" dirty="0">
                <a:solidFill>
                  <a:srgbClr val="C9963A"/>
                </a:solidFill>
                <a:latin typeface="Courier New" pitchFamily="34" charset="0"/>
                <a:ea typeface="Courier New" pitchFamily="34" charset="-122"/>
                <a:cs typeface="Courier New" pitchFamily="34" charset="-120"/>
              </a:rPr>
              <a:t>"mape"</a:t>
            </a:r>
            <a:endParaRPr lang="en-US" sz="1050" dirty="0"/>
          </a:p>
        </p:txBody>
      </p:sp>
      <p:sp>
        <p:nvSpPr>
          <p:cNvPr id="12" name="Text 10"/>
          <p:cNvSpPr/>
          <p:nvPr/>
        </p:nvSpPr>
        <p:spPr>
          <a:xfrm>
            <a:off x="4937760" y="1545336"/>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learning_rate</a:t>
            </a:r>
            <a:endParaRPr lang="en-US" sz="1050" dirty="0"/>
          </a:p>
        </p:txBody>
      </p:sp>
      <p:sp>
        <p:nvSpPr>
          <p:cNvPr id="13" name="Text 11"/>
          <p:cNvSpPr/>
          <p:nvPr/>
        </p:nvSpPr>
        <p:spPr>
          <a:xfrm>
            <a:off x="7269480" y="1545336"/>
            <a:ext cx="1371600" cy="228600"/>
          </a:xfrm>
          <a:prstGeom prst="rect">
            <a:avLst/>
          </a:prstGeom>
          <a:noFill/>
          <a:ln/>
        </p:spPr>
        <p:txBody>
          <a:bodyPr wrap="square" lIns="0" tIns="0" rIns="0" bIns="0" rtlCol="0" anchor="ctr"/>
          <a:lstStyle/>
          <a:p>
            <a:pPr marL="0" indent="0" algn="r">
              <a:buNone/>
            </a:pPr>
            <a:r>
              <a:rPr lang="en-US" sz="1050" b="1" dirty="0">
                <a:solidFill>
                  <a:srgbClr val="C9963A"/>
                </a:solidFill>
                <a:latin typeface="Courier New" pitchFamily="34" charset="0"/>
                <a:ea typeface="Courier New" pitchFamily="34" charset="-122"/>
                <a:cs typeface="Courier New" pitchFamily="34" charset="-120"/>
              </a:rPr>
              <a:t>0.05</a:t>
            </a:r>
            <a:endParaRPr lang="en-US" sz="1050" dirty="0"/>
          </a:p>
        </p:txBody>
      </p:sp>
      <p:sp>
        <p:nvSpPr>
          <p:cNvPr id="14" name="Text 12"/>
          <p:cNvSpPr/>
          <p:nvPr/>
        </p:nvSpPr>
        <p:spPr>
          <a:xfrm>
            <a:off x="4937760" y="1792224"/>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num_leaves</a:t>
            </a:r>
            <a:endParaRPr lang="en-US" sz="1050" dirty="0"/>
          </a:p>
        </p:txBody>
      </p:sp>
      <p:sp>
        <p:nvSpPr>
          <p:cNvPr id="15" name="Text 13"/>
          <p:cNvSpPr/>
          <p:nvPr/>
        </p:nvSpPr>
        <p:spPr>
          <a:xfrm>
            <a:off x="7269480" y="1792224"/>
            <a:ext cx="1371600" cy="228600"/>
          </a:xfrm>
          <a:prstGeom prst="rect">
            <a:avLst/>
          </a:prstGeom>
          <a:noFill/>
          <a:ln/>
        </p:spPr>
        <p:txBody>
          <a:bodyPr wrap="square" lIns="0" tIns="0" rIns="0" bIns="0" rtlCol="0" anchor="ctr"/>
          <a:lstStyle/>
          <a:p>
            <a:pPr marL="0" indent="0" algn="r">
              <a:buNone/>
            </a:pPr>
            <a:r>
              <a:rPr lang="en-US" sz="1050" b="1" dirty="0">
                <a:solidFill>
                  <a:srgbClr val="C9963A"/>
                </a:solidFill>
                <a:latin typeface="Courier New" pitchFamily="34" charset="0"/>
                <a:ea typeface="Courier New" pitchFamily="34" charset="-122"/>
                <a:cs typeface="Courier New" pitchFamily="34" charset="-120"/>
              </a:rPr>
              <a:t>63</a:t>
            </a:r>
            <a:endParaRPr lang="en-US" sz="1050" dirty="0"/>
          </a:p>
        </p:txBody>
      </p:sp>
      <p:sp>
        <p:nvSpPr>
          <p:cNvPr id="16" name="Text 14"/>
          <p:cNvSpPr/>
          <p:nvPr/>
        </p:nvSpPr>
        <p:spPr>
          <a:xfrm>
            <a:off x="4937760" y="2039112"/>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early_stopping</a:t>
            </a:r>
            <a:endParaRPr lang="en-US" sz="1050" dirty="0"/>
          </a:p>
        </p:txBody>
      </p:sp>
      <p:sp>
        <p:nvSpPr>
          <p:cNvPr id="17" name="Text 15"/>
          <p:cNvSpPr/>
          <p:nvPr/>
        </p:nvSpPr>
        <p:spPr>
          <a:xfrm>
            <a:off x="7269480" y="2039112"/>
            <a:ext cx="1371600" cy="228600"/>
          </a:xfrm>
          <a:prstGeom prst="rect">
            <a:avLst/>
          </a:prstGeom>
          <a:noFill/>
          <a:ln/>
        </p:spPr>
        <p:txBody>
          <a:bodyPr wrap="square" lIns="0" tIns="0" rIns="0" bIns="0" rtlCol="0" anchor="ctr"/>
          <a:lstStyle/>
          <a:p>
            <a:pPr marL="0" indent="0" algn="r">
              <a:buNone/>
            </a:pPr>
            <a:r>
              <a:rPr lang="en-US" sz="1050" b="1" dirty="0">
                <a:solidFill>
                  <a:srgbClr val="C9963A"/>
                </a:solidFill>
                <a:latin typeface="Courier New" pitchFamily="34" charset="0"/>
                <a:ea typeface="Courier New" pitchFamily="34" charset="-122"/>
                <a:cs typeface="Courier New" pitchFamily="34" charset="-120"/>
              </a:rPr>
              <a:t>50 rounds</a:t>
            </a:r>
            <a:endParaRPr lang="en-US" sz="1050" dirty="0"/>
          </a:p>
        </p:txBody>
      </p:sp>
      <p:sp>
        <p:nvSpPr>
          <p:cNvPr id="18" name="Shape 16"/>
          <p:cNvSpPr/>
          <p:nvPr/>
        </p:nvSpPr>
        <p:spPr>
          <a:xfrm>
            <a:off x="365760" y="2468880"/>
            <a:ext cx="8412480" cy="1691640"/>
          </a:xfrm>
          <a:prstGeom prst="rect">
            <a:avLst/>
          </a:prstGeom>
          <a:solidFill>
            <a:srgbClr val="1E2029"/>
          </a:solidFill>
          <a:ln/>
        </p:spPr>
      </p:sp>
      <p:sp>
        <p:nvSpPr>
          <p:cNvPr id="19" name="Text 17"/>
          <p:cNvSpPr/>
          <p:nvPr/>
        </p:nvSpPr>
        <p:spPr>
          <a:xfrm>
            <a:off x="365760" y="2468880"/>
            <a:ext cx="8412480" cy="256032"/>
          </a:xfrm>
          <a:prstGeom prst="rect">
            <a:avLst/>
          </a:prstGeom>
          <a:noFill/>
          <a:ln/>
        </p:spPr>
        <p:txBody>
          <a:bodyPr wrap="square" lIns="63500" tIns="63500" rIns="63500" bIns="63500" rtlCol="0" anchor="ctr"/>
          <a:lstStyle/>
          <a:p>
            <a:pPr marL="0" indent="0">
              <a:buNone/>
            </a:pPr>
            <a:r>
              <a:rPr lang="en-US" sz="900" dirty="0">
                <a:solidFill>
                  <a:srgbClr val="5C6370"/>
                </a:solidFill>
                <a:latin typeface="Courier New" pitchFamily="34" charset="0"/>
                <a:ea typeface="Courier New" pitchFamily="34" charset="-122"/>
                <a:cs typeface="Courier New" pitchFamily="34" charset="-120"/>
              </a:rPr>
              <a:t>python</a:t>
            </a:r>
            <a:endParaRPr lang="en-US" sz="900" dirty="0"/>
          </a:p>
        </p:txBody>
      </p:sp>
      <p:sp>
        <p:nvSpPr>
          <p:cNvPr id="20" name="Text 18"/>
          <p:cNvSpPr/>
          <p:nvPr/>
        </p:nvSpPr>
        <p:spPr>
          <a:xfrm>
            <a:off x="411480" y="2715768"/>
            <a:ext cx="8321040" cy="1371600"/>
          </a:xfrm>
          <a:prstGeom prst="rect">
            <a:avLst/>
          </a:prstGeom>
          <a:noFill/>
          <a:ln/>
        </p:spPr>
        <p:txBody>
          <a:bodyPr wrap="square" lIns="101600" tIns="101600" rIns="101600" bIns="101600" rtlCol="0" anchor="t"/>
          <a:lstStyle/>
          <a:p>
            <a:pPr marL="0" indent="0">
              <a:buNone/>
            </a:pPr>
            <a:r>
              <a:rPr lang="en-US" sz="1050" dirty="0">
                <a:solidFill>
                  <a:srgbClr val="ABB2BF"/>
                </a:solidFill>
                <a:latin typeface="Courier New" pitchFamily="34" charset="0"/>
                <a:ea typeface="Courier New" pitchFamily="34" charset="-122"/>
                <a:cs typeface="Courier New" pitchFamily="34" charset="-120"/>
              </a:rPr>
              <a:t>lgb_model = lgb.LGBMRegressor(</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objective="mape", n_estimators=2000, learning_rate=0.05,</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num_leaves=63, subsample=0.8, colsample_bytree=0.8</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lgb_model.fit(X_tr, y_tr_log,</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eval_set=[(X_val, y_val_log)],</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callbacks=[lgb.early_stopping(50)])</a:t>
            </a:r>
            <a:endParaRPr lang="en-US" sz="1050" dirty="0"/>
          </a:p>
        </p:txBody>
      </p:sp>
      <p:sp>
        <p:nvSpPr>
          <p:cNvPr id="21" name="Shape 19"/>
          <p:cNvSpPr/>
          <p:nvPr/>
        </p:nvSpPr>
        <p:spPr>
          <a:xfrm>
            <a:off x="365760" y="4251960"/>
            <a:ext cx="5029200" cy="594360"/>
          </a:xfrm>
          <a:prstGeom prst="rect">
            <a:avLst/>
          </a:prstGeom>
          <a:solidFill>
            <a:srgbClr val="1B4332"/>
          </a:solidFill>
          <a:ln/>
        </p:spPr>
      </p:sp>
      <p:sp>
        <p:nvSpPr>
          <p:cNvPr id="22" name="Text 20"/>
          <p:cNvSpPr/>
          <p:nvPr/>
        </p:nvSpPr>
        <p:spPr>
          <a:xfrm>
            <a:off x="457200" y="4279392"/>
            <a:ext cx="4846320" cy="502920"/>
          </a:xfrm>
          <a:prstGeom prst="rect">
            <a:avLst/>
          </a:prstGeom>
          <a:noFill/>
          <a:ln/>
        </p:spPr>
        <p:txBody>
          <a:bodyPr wrap="square" lIns="0" tIns="0" rIns="0" bIns="0" rtlCol="0" anchor="ctr"/>
          <a:lstStyle/>
          <a:p>
            <a:pPr marL="0" indent="0">
              <a:buNone/>
            </a:pPr>
            <a:r>
              <a:rPr lang="en-US" sz="1050" b="1" dirty="0">
                <a:solidFill>
                  <a:srgbClr val="52B788"/>
                </a:solidFill>
                <a:latin typeface="Calibri" pitchFamily="34" charset="0"/>
                <a:ea typeface="Calibri" pitchFamily="34" charset="-122"/>
                <a:cs typeface="Calibri" pitchFamily="34" charset="-120"/>
              </a:rPr>
              <a:t>MAPE: 20.24%   |   R²: 0.882   |   Best single model — directly optimises the target metric</a:t>
            </a:r>
            <a:endParaRPr lang="en-US" sz="1050" dirty="0"/>
          </a:p>
        </p:txBody>
      </p:sp>
      <p:sp>
        <p:nvSpPr>
          <p:cNvPr id="23" name="Text 21"/>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10</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Model 3 -  XGBoost</a:t>
            </a:r>
            <a:endParaRPr lang="en-US" sz="2600" dirty="0"/>
          </a:p>
        </p:txBody>
      </p:sp>
      <p:sp>
        <p:nvSpPr>
          <p:cNvPr id="4" name="Shape 2"/>
          <p:cNvSpPr/>
          <p:nvPr/>
        </p:nvSpPr>
        <p:spPr>
          <a:xfrm>
            <a:off x="365760" y="914400"/>
            <a:ext cx="4206240" cy="1417320"/>
          </a:xfrm>
          <a:prstGeom prst="rect">
            <a:avLst/>
          </a:prstGeom>
          <a:solidFill>
            <a:srgbClr val="F7F9F7"/>
          </a:solidFill>
          <a:ln/>
          <a:effectLst>
            <a:outerShdw blurRad="101600" dist="38100" dir="8100000" algn="bl" rotWithShape="0">
              <a:srgbClr val="000000">
                <a:alpha val="10000"/>
              </a:srgbClr>
            </a:outerShdw>
          </a:effectLst>
        </p:spPr>
      </p:sp>
      <p:sp>
        <p:nvSpPr>
          <p:cNvPr id="5" name="Shape 3"/>
          <p:cNvSpPr/>
          <p:nvPr/>
        </p:nvSpPr>
        <p:spPr>
          <a:xfrm>
            <a:off x="365760" y="914400"/>
            <a:ext cx="64008" cy="1417320"/>
          </a:xfrm>
          <a:prstGeom prst="rect">
            <a:avLst/>
          </a:prstGeom>
          <a:solidFill>
            <a:srgbClr val="2D6A4F"/>
          </a:solidFill>
          <a:ln/>
        </p:spPr>
      </p:sp>
      <p:sp>
        <p:nvSpPr>
          <p:cNvPr id="6" name="Text 4"/>
          <p:cNvSpPr/>
          <p:nvPr/>
        </p:nvSpPr>
        <p:spPr>
          <a:xfrm>
            <a:off x="521208" y="987552"/>
            <a:ext cx="3886200" cy="274320"/>
          </a:xfrm>
          <a:prstGeom prst="rect">
            <a:avLst/>
          </a:prstGeom>
          <a:noFill/>
          <a:ln/>
        </p:spPr>
        <p:txBody>
          <a:bodyPr wrap="square" lIns="0" tIns="0" rIns="0" bIns="0" rtlCol="0" anchor="ctr"/>
          <a:lstStyle/>
          <a:p>
            <a:pPr marL="0" indent="0">
              <a:buNone/>
            </a:pPr>
            <a:r>
              <a:rPr lang="en-US" sz="1200" b="1" dirty="0">
                <a:solidFill>
                  <a:srgbClr val="1B4332"/>
                </a:solidFill>
                <a:latin typeface="Georgia" pitchFamily="34" charset="0"/>
                <a:ea typeface="Georgia" pitchFamily="34" charset="-122"/>
                <a:cs typeface="Georgia" pitchFamily="34" charset="-120"/>
              </a:rPr>
              <a:t>What it does</a:t>
            </a:r>
            <a:endParaRPr lang="en-US" sz="1200" dirty="0"/>
          </a:p>
        </p:txBody>
      </p:sp>
      <p:sp>
        <p:nvSpPr>
          <p:cNvPr id="7" name="Text 5"/>
          <p:cNvSpPr/>
          <p:nvPr/>
        </p:nvSpPr>
        <p:spPr>
          <a:xfrm>
            <a:off x="521208" y="1298448"/>
            <a:ext cx="3886200" cy="91440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Also a gradient boosting algorithm, similar idea to LightGBM but with a different internal tree-growing strategy. Grows trees level by level rather than leaf by leaf. Often captures different interaction patterns, making it a useful ensemble companion.</a:t>
            </a:r>
            <a:endParaRPr lang="en-US" sz="1100" dirty="0"/>
          </a:p>
        </p:txBody>
      </p:sp>
      <p:sp>
        <p:nvSpPr>
          <p:cNvPr id="8" name="Shape 6"/>
          <p:cNvSpPr/>
          <p:nvPr/>
        </p:nvSpPr>
        <p:spPr>
          <a:xfrm>
            <a:off x="4800600" y="914400"/>
            <a:ext cx="3977640" cy="1417320"/>
          </a:xfrm>
          <a:prstGeom prst="rect">
            <a:avLst/>
          </a:prstGeom>
          <a:solidFill>
            <a:srgbClr val="1B4332"/>
          </a:solidFill>
          <a:ln/>
          <a:effectLst>
            <a:outerShdw blurRad="101600" dist="38100" dir="8100000" algn="bl" rotWithShape="0">
              <a:srgbClr val="000000">
                <a:alpha val="10000"/>
              </a:srgbClr>
            </a:outerShdw>
          </a:effectLst>
        </p:spPr>
      </p:sp>
      <p:sp>
        <p:nvSpPr>
          <p:cNvPr id="9" name="Text 7"/>
          <p:cNvSpPr/>
          <p:nvPr/>
        </p:nvSpPr>
        <p:spPr>
          <a:xfrm>
            <a:off x="4937760" y="987552"/>
            <a:ext cx="3703320" cy="274320"/>
          </a:xfrm>
          <a:prstGeom prst="rect">
            <a:avLst/>
          </a:prstGeom>
          <a:noFill/>
          <a:ln/>
        </p:spPr>
        <p:txBody>
          <a:bodyPr wrap="square" lIns="0" tIns="0" rIns="0" bIns="0" rtlCol="0" anchor="ctr"/>
          <a:lstStyle/>
          <a:p>
            <a:pPr marL="0" indent="0">
              <a:buNone/>
            </a:pPr>
            <a:r>
              <a:rPr lang="en-US" sz="1200" b="1" dirty="0">
                <a:solidFill>
                  <a:srgbClr val="52B788"/>
                </a:solidFill>
                <a:latin typeface="Georgia" pitchFamily="34" charset="0"/>
                <a:ea typeface="Georgia" pitchFamily="34" charset="-122"/>
                <a:cs typeface="Georgia" pitchFamily="34" charset="-120"/>
              </a:rPr>
              <a:t>Key Settings</a:t>
            </a:r>
            <a:endParaRPr lang="en-US" sz="1200" dirty="0"/>
          </a:p>
        </p:txBody>
      </p:sp>
      <p:sp>
        <p:nvSpPr>
          <p:cNvPr id="10" name="Text 8"/>
          <p:cNvSpPr/>
          <p:nvPr/>
        </p:nvSpPr>
        <p:spPr>
          <a:xfrm>
            <a:off x="4937760" y="1298448"/>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objective</a:t>
            </a:r>
            <a:endParaRPr lang="en-US" sz="1050" dirty="0"/>
          </a:p>
        </p:txBody>
      </p:sp>
      <p:sp>
        <p:nvSpPr>
          <p:cNvPr id="11" name="Text 9"/>
          <p:cNvSpPr/>
          <p:nvPr/>
        </p:nvSpPr>
        <p:spPr>
          <a:xfrm>
            <a:off x="7269480" y="1298448"/>
            <a:ext cx="1371600" cy="228600"/>
          </a:xfrm>
          <a:prstGeom prst="rect">
            <a:avLst/>
          </a:prstGeom>
          <a:noFill/>
          <a:ln/>
        </p:spPr>
        <p:txBody>
          <a:bodyPr wrap="square" lIns="0" tIns="0" rIns="0" bIns="0" rtlCol="0" anchor="ctr"/>
          <a:lstStyle/>
          <a:p>
            <a:pPr marL="0" indent="0" algn="r">
              <a:buNone/>
            </a:pPr>
            <a:r>
              <a:rPr lang="en-US" sz="1000" b="1" dirty="0">
                <a:solidFill>
                  <a:srgbClr val="C9963A"/>
                </a:solidFill>
                <a:latin typeface="Courier New" pitchFamily="34" charset="0"/>
                <a:ea typeface="Courier New" pitchFamily="34" charset="-122"/>
                <a:cs typeface="Courier New" pitchFamily="34" charset="-120"/>
              </a:rPr>
              <a:t>reg:squarederror</a:t>
            </a:r>
            <a:endParaRPr lang="en-US" sz="1000" dirty="0"/>
          </a:p>
        </p:txBody>
      </p:sp>
      <p:sp>
        <p:nvSpPr>
          <p:cNvPr id="12" name="Text 10"/>
          <p:cNvSpPr/>
          <p:nvPr/>
        </p:nvSpPr>
        <p:spPr>
          <a:xfrm>
            <a:off x="4937760" y="1545336"/>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max_depth</a:t>
            </a:r>
            <a:endParaRPr lang="en-US" sz="1050" dirty="0"/>
          </a:p>
        </p:txBody>
      </p:sp>
      <p:sp>
        <p:nvSpPr>
          <p:cNvPr id="13" name="Text 11"/>
          <p:cNvSpPr/>
          <p:nvPr/>
        </p:nvSpPr>
        <p:spPr>
          <a:xfrm>
            <a:off x="7269480" y="1545336"/>
            <a:ext cx="1371600" cy="228600"/>
          </a:xfrm>
          <a:prstGeom prst="rect">
            <a:avLst/>
          </a:prstGeom>
          <a:noFill/>
          <a:ln/>
        </p:spPr>
        <p:txBody>
          <a:bodyPr wrap="square" lIns="0" tIns="0" rIns="0" bIns="0" rtlCol="0" anchor="ctr"/>
          <a:lstStyle/>
          <a:p>
            <a:pPr marL="0" indent="0" algn="r">
              <a:buNone/>
            </a:pPr>
            <a:r>
              <a:rPr lang="en-US" sz="1000" b="1" dirty="0">
                <a:solidFill>
                  <a:srgbClr val="C9963A"/>
                </a:solidFill>
                <a:latin typeface="Courier New" pitchFamily="34" charset="0"/>
                <a:ea typeface="Courier New" pitchFamily="34" charset="-122"/>
                <a:cs typeface="Courier New" pitchFamily="34" charset="-120"/>
              </a:rPr>
              <a:t>6</a:t>
            </a:r>
            <a:endParaRPr lang="en-US" sz="1000" dirty="0"/>
          </a:p>
        </p:txBody>
      </p:sp>
      <p:sp>
        <p:nvSpPr>
          <p:cNvPr id="14" name="Text 12"/>
          <p:cNvSpPr/>
          <p:nvPr/>
        </p:nvSpPr>
        <p:spPr>
          <a:xfrm>
            <a:off x="4937760" y="1792224"/>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learning_rate</a:t>
            </a:r>
            <a:endParaRPr lang="en-US" sz="1050" dirty="0"/>
          </a:p>
        </p:txBody>
      </p:sp>
      <p:sp>
        <p:nvSpPr>
          <p:cNvPr id="15" name="Text 13"/>
          <p:cNvSpPr/>
          <p:nvPr/>
        </p:nvSpPr>
        <p:spPr>
          <a:xfrm>
            <a:off x="7269480" y="1792224"/>
            <a:ext cx="1371600" cy="228600"/>
          </a:xfrm>
          <a:prstGeom prst="rect">
            <a:avLst/>
          </a:prstGeom>
          <a:noFill/>
          <a:ln/>
        </p:spPr>
        <p:txBody>
          <a:bodyPr wrap="square" lIns="0" tIns="0" rIns="0" bIns="0" rtlCol="0" anchor="ctr"/>
          <a:lstStyle/>
          <a:p>
            <a:pPr marL="0" indent="0" algn="r">
              <a:buNone/>
            </a:pPr>
            <a:r>
              <a:rPr lang="en-US" sz="1000" b="1" dirty="0">
                <a:solidFill>
                  <a:srgbClr val="C9963A"/>
                </a:solidFill>
                <a:latin typeface="Courier New" pitchFamily="34" charset="0"/>
                <a:ea typeface="Courier New" pitchFamily="34" charset="-122"/>
                <a:cs typeface="Courier New" pitchFamily="34" charset="-120"/>
              </a:rPr>
              <a:t>0.05</a:t>
            </a:r>
            <a:endParaRPr lang="en-US" sz="1000" dirty="0"/>
          </a:p>
        </p:txBody>
      </p:sp>
      <p:sp>
        <p:nvSpPr>
          <p:cNvPr id="16" name="Text 14"/>
          <p:cNvSpPr/>
          <p:nvPr/>
        </p:nvSpPr>
        <p:spPr>
          <a:xfrm>
            <a:off x="4937760" y="2039112"/>
            <a:ext cx="2286000" cy="228600"/>
          </a:xfrm>
          <a:prstGeom prst="rect">
            <a:avLst/>
          </a:prstGeom>
          <a:noFill/>
          <a:ln/>
        </p:spPr>
        <p:txBody>
          <a:bodyPr wrap="square" lIns="0" tIns="0" rIns="0" bIns="0" rtlCol="0" anchor="ctr"/>
          <a:lstStyle/>
          <a:p>
            <a:pPr marL="0" indent="0">
              <a:buNone/>
            </a:pPr>
            <a:r>
              <a:rPr lang="en-US" sz="1050" dirty="0">
                <a:solidFill>
                  <a:srgbClr val="D8F3DC"/>
                </a:solidFill>
                <a:latin typeface="Courier New" pitchFamily="34" charset="0"/>
                <a:ea typeface="Courier New" pitchFamily="34" charset="-122"/>
                <a:cs typeface="Courier New" pitchFamily="34" charset="-120"/>
              </a:rPr>
              <a:t>early_stopping</a:t>
            </a:r>
            <a:endParaRPr lang="en-US" sz="1050" dirty="0"/>
          </a:p>
        </p:txBody>
      </p:sp>
      <p:sp>
        <p:nvSpPr>
          <p:cNvPr id="17" name="Text 15"/>
          <p:cNvSpPr/>
          <p:nvPr/>
        </p:nvSpPr>
        <p:spPr>
          <a:xfrm>
            <a:off x="7269480" y="2039112"/>
            <a:ext cx="1371600" cy="228600"/>
          </a:xfrm>
          <a:prstGeom prst="rect">
            <a:avLst/>
          </a:prstGeom>
          <a:noFill/>
          <a:ln/>
        </p:spPr>
        <p:txBody>
          <a:bodyPr wrap="square" lIns="0" tIns="0" rIns="0" bIns="0" rtlCol="0" anchor="ctr"/>
          <a:lstStyle/>
          <a:p>
            <a:pPr marL="0" indent="0" algn="r">
              <a:buNone/>
            </a:pPr>
            <a:r>
              <a:rPr lang="en-US" sz="1000" b="1" dirty="0">
                <a:solidFill>
                  <a:srgbClr val="C9963A"/>
                </a:solidFill>
                <a:latin typeface="Courier New" pitchFamily="34" charset="0"/>
                <a:ea typeface="Courier New" pitchFamily="34" charset="-122"/>
                <a:cs typeface="Courier New" pitchFamily="34" charset="-120"/>
              </a:rPr>
              <a:t>50 rounds</a:t>
            </a:r>
            <a:endParaRPr lang="en-US" sz="1000" dirty="0"/>
          </a:p>
        </p:txBody>
      </p:sp>
      <p:sp>
        <p:nvSpPr>
          <p:cNvPr id="18" name="Shape 16"/>
          <p:cNvSpPr/>
          <p:nvPr/>
        </p:nvSpPr>
        <p:spPr>
          <a:xfrm>
            <a:off x="365760" y="2468880"/>
            <a:ext cx="8412480" cy="1691640"/>
          </a:xfrm>
          <a:prstGeom prst="rect">
            <a:avLst/>
          </a:prstGeom>
          <a:solidFill>
            <a:srgbClr val="1E2029"/>
          </a:solidFill>
          <a:ln/>
        </p:spPr>
      </p:sp>
      <p:sp>
        <p:nvSpPr>
          <p:cNvPr id="19" name="Text 17"/>
          <p:cNvSpPr/>
          <p:nvPr/>
        </p:nvSpPr>
        <p:spPr>
          <a:xfrm>
            <a:off x="365760" y="2468880"/>
            <a:ext cx="8412480" cy="256032"/>
          </a:xfrm>
          <a:prstGeom prst="rect">
            <a:avLst/>
          </a:prstGeom>
          <a:noFill/>
          <a:ln/>
        </p:spPr>
        <p:txBody>
          <a:bodyPr wrap="square" lIns="63500" tIns="63500" rIns="63500" bIns="63500" rtlCol="0" anchor="ctr"/>
          <a:lstStyle/>
          <a:p>
            <a:pPr marL="0" indent="0">
              <a:buNone/>
            </a:pPr>
            <a:r>
              <a:rPr lang="en-US" sz="900" dirty="0">
                <a:solidFill>
                  <a:srgbClr val="5C6370"/>
                </a:solidFill>
                <a:latin typeface="Courier New" pitchFamily="34" charset="0"/>
                <a:ea typeface="Courier New" pitchFamily="34" charset="-122"/>
                <a:cs typeface="Courier New" pitchFamily="34" charset="-120"/>
              </a:rPr>
              <a:t>python</a:t>
            </a:r>
            <a:endParaRPr lang="en-US" sz="900" dirty="0"/>
          </a:p>
        </p:txBody>
      </p:sp>
      <p:sp>
        <p:nvSpPr>
          <p:cNvPr id="20" name="Text 18"/>
          <p:cNvSpPr/>
          <p:nvPr/>
        </p:nvSpPr>
        <p:spPr>
          <a:xfrm>
            <a:off x="411480" y="2715768"/>
            <a:ext cx="8321040" cy="1371600"/>
          </a:xfrm>
          <a:prstGeom prst="rect">
            <a:avLst/>
          </a:prstGeom>
          <a:noFill/>
          <a:ln/>
        </p:spPr>
        <p:txBody>
          <a:bodyPr wrap="square" lIns="101600" tIns="101600" rIns="101600" bIns="101600" rtlCol="0" anchor="t"/>
          <a:lstStyle/>
          <a:p>
            <a:pPr marL="0" indent="0">
              <a:buNone/>
            </a:pPr>
            <a:r>
              <a:rPr lang="en-US" sz="1050" dirty="0">
                <a:solidFill>
                  <a:srgbClr val="ABB2BF"/>
                </a:solidFill>
                <a:latin typeface="Courier New" pitchFamily="34" charset="0"/>
                <a:ea typeface="Courier New" pitchFamily="34" charset="-122"/>
                <a:cs typeface="Courier New" pitchFamily="34" charset="-120"/>
              </a:rPr>
              <a:t>xgb_model = xgb.XGBRegressor(</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objective="reg:squarederror", n_estimators=2000,</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learning_rate=0.05, max_depth=6,</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early_stopping_rounds=50, eval_metric="rmse"</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xgb_model.fit(X_tr, y_tr_log, eval_set=[(X_val, y_val_log)])</a:t>
            </a:r>
            <a:endParaRPr lang="en-US" sz="1050" dirty="0"/>
          </a:p>
        </p:txBody>
      </p:sp>
      <p:sp>
        <p:nvSpPr>
          <p:cNvPr id="21" name="Shape 19"/>
          <p:cNvSpPr/>
          <p:nvPr/>
        </p:nvSpPr>
        <p:spPr>
          <a:xfrm>
            <a:off x="365760" y="4251960"/>
            <a:ext cx="4160520" cy="594360"/>
          </a:xfrm>
          <a:prstGeom prst="rect">
            <a:avLst/>
          </a:prstGeom>
          <a:solidFill>
            <a:srgbClr val="F7F9F7"/>
          </a:solidFill>
          <a:ln/>
        </p:spPr>
      </p:sp>
      <p:sp>
        <p:nvSpPr>
          <p:cNvPr id="22" name="Text 20"/>
          <p:cNvSpPr/>
          <p:nvPr/>
        </p:nvSpPr>
        <p:spPr>
          <a:xfrm>
            <a:off x="457200" y="4279392"/>
            <a:ext cx="3977640" cy="502920"/>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MAPE: 22.26%   |   R²: 0.791   |   Contributes diversity to the ensemble through different tree structure</a:t>
            </a:r>
            <a:endParaRPr lang="en-US" sz="1050" dirty="0"/>
          </a:p>
        </p:txBody>
      </p:sp>
      <p:sp>
        <p:nvSpPr>
          <p:cNvPr id="23" name="Text 21"/>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11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Cross Validation  +  Ensembling</a:t>
            </a:r>
            <a:endParaRPr lang="en-US" sz="2600" dirty="0"/>
          </a:p>
        </p:txBody>
      </p:sp>
      <p:sp>
        <p:nvSpPr>
          <p:cNvPr id="4" name="Shape 2"/>
          <p:cNvSpPr/>
          <p:nvPr/>
        </p:nvSpPr>
        <p:spPr>
          <a:xfrm>
            <a:off x="365760" y="914400"/>
            <a:ext cx="4206240" cy="2194560"/>
          </a:xfrm>
          <a:prstGeom prst="rect">
            <a:avLst/>
          </a:prstGeom>
          <a:solidFill>
            <a:srgbClr val="F7F9F7"/>
          </a:solidFill>
          <a:ln/>
          <a:effectLst>
            <a:outerShdw blurRad="101600" dist="38100" dir="8100000" algn="bl" rotWithShape="0">
              <a:srgbClr val="000000">
                <a:alpha val="10000"/>
              </a:srgbClr>
            </a:outerShdw>
          </a:effectLst>
        </p:spPr>
      </p:sp>
      <p:sp>
        <p:nvSpPr>
          <p:cNvPr id="5" name="Text 3"/>
          <p:cNvSpPr/>
          <p:nvPr/>
        </p:nvSpPr>
        <p:spPr>
          <a:xfrm>
            <a:off x="502920" y="1005840"/>
            <a:ext cx="3931920" cy="329184"/>
          </a:xfrm>
          <a:prstGeom prst="rect">
            <a:avLst/>
          </a:prstGeom>
          <a:noFill/>
          <a:ln/>
        </p:spPr>
        <p:txBody>
          <a:bodyPr wrap="square" lIns="0" tIns="0" rIns="0" bIns="0" rtlCol="0" anchor="ctr"/>
          <a:lstStyle/>
          <a:p>
            <a:pPr marL="0" indent="0">
              <a:buNone/>
            </a:pPr>
            <a:r>
              <a:rPr lang="en-US" sz="1300" b="1" dirty="0">
                <a:solidFill>
                  <a:srgbClr val="1B4332"/>
                </a:solidFill>
                <a:latin typeface="Georgia" pitchFamily="34" charset="0"/>
                <a:ea typeface="Georgia" pitchFamily="34" charset="-122"/>
                <a:cs typeface="Georgia" pitchFamily="34" charset="-120"/>
              </a:rPr>
              <a:t>5-Fold Cross Validation</a:t>
            </a:r>
            <a:endParaRPr lang="en-US" sz="1300" dirty="0"/>
          </a:p>
        </p:txBody>
      </p:sp>
      <p:sp>
        <p:nvSpPr>
          <p:cNvPr id="6" name="Shape 4"/>
          <p:cNvSpPr/>
          <p:nvPr/>
        </p:nvSpPr>
        <p:spPr>
          <a:xfrm>
            <a:off x="502920" y="1417320"/>
            <a:ext cx="749808" cy="256032"/>
          </a:xfrm>
          <a:prstGeom prst="rect">
            <a:avLst/>
          </a:prstGeom>
          <a:solidFill>
            <a:srgbClr val="2D6A4F"/>
          </a:solidFill>
          <a:ln/>
        </p:spPr>
      </p:sp>
      <p:sp>
        <p:nvSpPr>
          <p:cNvPr id="7" name="Text 5"/>
          <p:cNvSpPr/>
          <p:nvPr/>
        </p:nvSpPr>
        <p:spPr>
          <a:xfrm>
            <a:off x="502920" y="1417320"/>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8" name="Shape 6"/>
          <p:cNvSpPr/>
          <p:nvPr/>
        </p:nvSpPr>
        <p:spPr>
          <a:xfrm>
            <a:off x="1280160" y="1417320"/>
            <a:ext cx="749808" cy="256032"/>
          </a:xfrm>
          <a:prstGeom prst="rect">
            <a:avLst/>
          </a:prstGeom>
          <a:solidFill>
            <a:srgbClr val="2D6A4F"/>
          </a:solidFill>
          <a:ln/>
        </p:spPr>
      </p:sp>
      <p:sp>
        <p:nvSpPr>
          <p:cNvPr id="9" name="Text 7"/>
          <p:cNvSpPr/>
          <p:nvPr/>
        </p:nvSpPr>
        <p:spPr>
          <a:xfrm>
            <a:off x="1280160" y="1417320"/>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10" name="Shape 8"/>
          <p:cNvSpPr/>
          <p:nvPr/>
        </p:nvSpPr>
        <p:spPr>
          <a:xfrm>
            <a:off x="2057400" y="1417320"/>
            <a:ext cx="749808" cy="256032"/>
          </a:xfrm>
          <a:prstGeom prst="rect">
            <a:avLst/>
          </a:prstGeom>
          <a:solidFill>
            <a:srgbClr val="2D6A4F"/>
          </a:solidFill>
          <a:ln/>
        </p:spPr>
      </p:sp>
      <p:sp>
        <p:nvSpPr>
          <p:cNvPr id="11" name="Text 9"/>
          <p:cNvSpPr/>
          <p:nvPr/>
        </p:nvSpPr>
        <p:spPr>
          <a:xfrm>
            <a:off x="2057400" y="1417320"/>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12" name="Shape 10"/>
          <p:cNvSpPr/>
          <p:nvPr/>
        </p:nvSpPr>
        <p:spPr>
          <a:xfrm>
            <a:off x="2834640" y="1417320"/>
            <a:ext cx="749808" cy="256032"/>
          </a:xfrm>
          <a:prstGeom prst="rect">
            <a:avLst/>
          </a:prstGeom>
          <a:solidFill>
            <a:srgbClr val="2D6A4F"/>
          </a:solidFill>
          <a:ln/>
        </p:spPr>
      </p:sp>
      <p:sp>
        <p:nvSpPr>
          <p:cNvPr id="13" name="Text 11"/>
          <p:cNvSpPr/>
          <p:nvPr/>
        </p:nvSpPr>
        <p:spPr>
          <a:xfrm>
            <a:off x="2834640" y="1417320"/>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14" name="Shape 12"/>
          <p:cNvSpPr/>
          <p:nvPr/>
        </p:nvSpPr>
        <p:spPr>
          <a:xfrm>
            <a:off x="3611880" y="1417320"/>
            <a:ext cx="749808" cy="256032"/>
          </a:xfrm>
          <a:prstGeom prst="rect">
            <a:avLst/>
          </a:prstGeom>
          <a:solidFill>
            <a:srgbClr val="C9963A"/>
          </a:solidFill>
          <a:ln/>
        </p:spPr>
      </p:sp>
      <p:sp>
        <p:nvSpPr>
          <p:cNvPr id="15" name="Text 13"/>
          <p:cNvSpPr/>
          <p:nvPr/>
        </p:nvSpPr>
        <p:spPr>
          <a:xfrm>
            <a:off x="3611880" y="1417320"/>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Val</a:t>
            </a:r>
            <a:endParaRPr lang="en-US" sz="850" dirty="0"/>
          </a:p>
        </p:txBody>
      </p:sp>
      <p:sp>
        <p:nvSpPr>
          <p:cNvPr id="16" name="Shape 14"/>
          <p:cNvSpPr/>
          <p:nvPr/>
        </p:nvSpPr>
        <p:spPr>
          <a:xfrm>
            <a:off x="502920" y="1709928"/>
            <a:ext cx="749808" cy="256032"/>
          </a:xfrm>
          <a:prstGeom prst="rect">
            <a:avLst/>
          </a:prstGeom>
          <a:solidFill>
            <a:srgbClr val="2D6A4F"/>
          </a:solidFill>
          <a:ln/>
        </p:spPr>
      </p:sp>
      <p:sp>
        <p:nvSpPr>
          <p:cNvPr id="17" name="Text 15"/>
          <p:cNvSpPr/>
          <p:nvPr/>
        </p:nvSpPr>
        <p:spPr>
          <a:xfrm>
            <a:off x="502920" y="1709928"/>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18" name="Shape 16"/>
          <p:cNvSpPr/>
          <p:nvPr/>
        </p:nvSpPr>
        <p:spPr>
          <a:xfrm>
            <a:off x="1280160" y="1709928"/>
            <a:ext cx="749808" cy="256032"/>
          </a:xfrm>
          <a:prstGeom prst="rect">
            <a:avLst/>
          </a:prstGeom>
          <a:solidFill>
            <a:srgbClr val="2D6A4F"/>
          </a:solidFill>
          <a:ln/>
        </p:spPr>
      </p:sp>
      <p:sp>
        <p:nvSpPr>
          <p:cNvPr id="19" name="Text 17"/>
          <p:cNvSpPr/>
          <p:nvPr/>
        </p:nvSpPr>
        <p:spPr>
          <a:xfrm>
            <a:off x="1280160" y="1709928"/>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20" name="Shape 18"/>
          <p:cNvSpPr/>
          <p:nvPr/>
        </p:nvSpPr>
        <p:spPr>
          <a:xfrm>
            <a:off x="2057400" y="1709928"/>
            <a:ext cx="749808" cy="256032"/>
          </a:xfrm>
          <a:prstGeom prst="rect">
            <a:avLst/>
          </a:prstGeom>
          <a:solidFill>
            <a:srgbClr val="2D6A4F"/>
          </a:solidFill>
          <a:ln/>
        </p:spPr>
      </p:sp>
      <p:sp>
        <p:nvSpPr>
          <p:cNvPr id="21" name="Text 19"/>
          <p:cNvSpPr/>
          <p:nvPr/>
        </p:nvSpPr>
        <p:spPr>
          <a:xfrm>
            <a:off x="2057400" y="1709928"/>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22" name="Shape 20"/>
          <p:cNvSpPr/>
          <p:nvPr/>
        </p:nvSpPr>
        <p:spPr>
          <a:xfrm>
            <a:off x="2834640" y="1709928"/>
            <a:ext cx="749808" cy="256032"/>
          </a:xfrm>
          <a:prstGeom prst="rect">
            <a:avLst/>
          </a:prstGeom>
          <a:solidFill>
            <a:srgbClr val="C9963A"/>
          </a:solidFill>
          <a:ln/>
        </p:spPr>
      </p:sp>
      <p:sp>
        <p:nvSpPr>
          <p:cNvPr id="23" name="Text 21"/>
          <p:cNvSpPr/>
          <p:nvPr/>
        </p:nvSpPr>
        <p:spPr>
          <a:xfrm>
            <a:off x="2834640" y="1709928"/>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Val</a:t>
            </a:r>
            <a:endParaRPr lang="en-US" sz="850" dirty="0"/>
          </a:p>
        </p:txBody>
      </p:sp>
      <p:sp>
        <p:nvSpPr>
          <p:cNvPr id="24" name="Shape 22"/>
          <p:cNvSpPr/>
          <p:nvPr/>
        </p:nvSpPr>
        <p:spPr>
          <a:xfrm>
            <a:off x="3611880" y="1709928"/>
            <a:ext cx="749808" cy="256032"/>
          </a:xfrm>
          <a:prstGeom prst="rect">
            <a:avLst/>
          </a:prstGeom>
          <a:solidFill>
            <a:srgbClr val="2D6A4F"/>
          </a:solidFill>
          <a:ln/>
        </p:spPr>
      </p:sp>
      <p:sp>
        <p:nvSpPr>
          <p:cNvPr id="25" name="Text 23"/>
          <p:cNvSpPr/>
          <p:nvPr/>
        </p:nvSpPr>
        <p:spPr>
          <a:xfrm>
            <a:off x="3611880" y="1709928"/>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26" name="Shape 24"/>
          <p:cNvSpPr/>
          <p:nvPr/>
        </p:nvSpPr>
        <p:spPr>
          <a:xfrm>
            <a:off x="502920" y="2002536"/>
            <a:ext cx="749808" cy="256032"/>
          </a:xfrm>
          <a:prstGeom prst="rect">
            <a:avLst/>
          </a:prstGeom>
          <a:solidFill>
            <a:srgbClr val="2D6A4F"/>
          </a:solidFill>
          <a:ln/>
        </p:spPr>
      </p:sp>
      <p:sp>
        <p:nvSpPr>
          <p:cNvPr id="27" name="Text 25"/>
          <p:cNvSpPr/>
          <p:nvPr/>
        </p:nvSpPr>
        <p:spPr>
          <a:xfrm>
            <a:off x="502920" y="2002536"/>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28" name="Shape 26"/>
          <p:cNvSpPr/>
          <p:nvPr/>
        </p:nvSpPr>
        <p:spPr>
          <a:xfrm>
            <a:off x="1280160" y="2002536"/>
            <a:ext cx="749808" cy="256032"/>
          </a:xfrm>
          <a:prstGeom prst="rect">
            <a:avLst/>
          </a:prstGeom>
          <a:solidFill>
            <a:srgbClr val="2D6A4F"/>
          </a:solidFill>
          <a:ln/>
        </p:spPr>
      </p:sp>
      <p:sp>
        <p:nvSpPr>
          <p:cNvPr id="29" name="Text 27"/>
          <p:cNvSpPr/>
          <p:nvPr/>
        </p:nvSpPr>
        <p:spPr>
          <a:xfrm>
            <a:off x="1280160" y="2002536"/>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30" name="Shape 28"/>
          <p:cNvSpPr/>
          <p:nvPr/>
        </p:nvSpPr>
        <p:spPr>
          <a:xfrm>
            <a:off x="2057400" y="2002536"/>
            <a:ext cx="749808" cy="256032"/>
          </a:xfrm>
          <a:prstGeom prst="rect">
            <a:avLst/>
          </a:prstGeom>
          <a:solidFill>
            <a:srgbClr val="C9963A"/>
          </a:solidFill>
          <a:ln/>
        </p:spPr>
      </p:sp>
      <p:sp>
        <p:nvSpPr>
          <p:cNvPr id="31" name="Text 29"/>
          <p:cNvSpPr/>
          <p:nvPr/>
        </p:nvSpPr>
        <p:spPr>
          <a:xfrm>
            <a:off x="2057400" y="2002536"/>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Val</a:t>
            </a:r>
            <a:endParaRPr lang="en-US" sz="850" dirty="0"/>
          </a:p>
        </p:txBody>
      </p:sp>
      <p:sp>
        <p:nvSpPr>
          <p:cNvPr id="32" name="Shape 30"/>
          <p:cNvSpPr/>
          <p:nvPr/>
        </p:nvSpPr>
        <p:spPr>
          <a:xfrm>
            <a:off x="2834640" y="2002536"/>
            <a:ext cx="749808" cy="256032"/>
          </a:xfrm>
          <a:prstGeom prst="rect">
            <a:avLst/>
          </a:prstGeom>
          <a:solidFill>
            <a:srgbClr val="2D6A4F"/>
          </a:solidFill>
          <a:ln/>
        </p:spPr>
      </p:sp>
      <p:sp>
        <p:nvSpPr>
          <p:cNvPr id="33" name="Text 31"/>
          <p:cNvSpPr/>
          <p:nvPr/>
        </p:nvSpPr>
        <p:spPr>
          <a:xfrm>
            <a:off x="2834640" y="2002536"/>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34" name="Shape 32"/>
          <p:cNvSpPr/>
          <p:nvPr/>
        </p:nvSpPr>
        <p:spPr>
          <a:xfrm>
            <a:off x="3611880" y="2002536"/>
            <a:ext cx="749808" cy="256032"/>
          </a:xfrm>
          <a:prstGeom prst="rect">
            <a:avLst/>
          </a:prstGeom>
          <a:solidFill>
            <a:srgbClr val="2D6A4F"/>
          </a:solidFill>
          <a:ln/>
        </p:spPr>
      </p:sp>
      <p:sp>
        <p:nvSpPr>
          <p:cNvPr id="35" name="Text 33"/>
          <p:cNvSpPr/>
          <p:nvPr/>
        </p:nvSpPr>
        <p:spPr>
          <a:xfrm>
            <a:off x="3611880" y="2002536"/>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36" name="Shape 34"/>
          <p:cNvSpPr/>
          <p:nvPr/>
        </p:nvSpPr>
        <p:spPr>
          <a:xfrm>
            <a:off x="502920" y="2295144"/>
            <a:ext cx="749808" cy="256032"/>
          </a:xfrm>
          <a:prstGeom prst="rect">
            <a:avLst/>
          </a:prstGeom>
          <a:solidFill>
            <a:srgbClr val="2D6A4F"/>
          </a:solidFill>
          <a:ln/>
        </p:spPr>
      </p:sp>
      <p:sp>
        <p:nvSpPr>
          <p:cNvPr id="37" name="Text 35"/>
          <p:cNvSpPr/>
          <p:nvPr/>
        </p:nvSpPr>
        <p:spPr>
          <a:xfrm>
            <a:off x="502920" y="2295144"/>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38" name="Shape 36"/>
          <p:cNvSpPr/>
          <p:nvPr/>
        </p:nvSpPr>
        <p:spPr>
          <a:xfrm>
            <a:off x="1280160" y="2295144"/>
            <a:ext cx="749808" cy="256032"/>
          </a:xfrm>
          <a:prstGeom prst="rect">
            <a:avLst/>
          </a:prstGeom>
          <a:solidFill>
            <a:srgbClr val="C9963A"/>
          </a:solidFill>
          <a:ln/>
        </p:spPr>
      </p:sp>
      <p:sp>
        <p:nvSpPr>
          <p:cNvPr id="39" name="Text 37"/>
          <p:cNvSpPr/>
          <p:nvPr/>
        </p:nvSpPr>
        <p:spPr>
          <a:xfrm>
            <a:off x="1280160" y="2295144"/>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Val</a:t>
            </a:r>
            <a:endParaRPr lang="en-US" sz="850" dirty="0"/>
          </a:p>
        </p:txBody>
      </p:sp>
      <p:sp>
        <p:nvSpPr>
          <p:cNvPr id="40" name="Shape 38"/>
          <p:cNvSpPr/>
          <p:nvPr/>
        </p:nvSpPr>
        <p:spPr>
          <a:xfrm>
            <a:off x="2057400" y="2295144"/>
            <a:ext cx="749808" cy="256032"/>
          </a:xfrm>
          <a:prstGeom prst="rect">
            <a:avLst/>
          </a:prstGeom>
          <a:solidFill>
            <a:srgbClr val="2D6A4F"/>
          </a:solidFill>
          <a:ln/>
        </p:spPr>
      </p:sp>
      <p:sp>
        <p:nvSpPr>
          <p:cNvPr id="41" name="Text 39"/>
          <p:cNvSpPr/>
          <p:nvPr/>
        </p:nvSpPr>
        <p:spPr>
          <a:xfrm>
            <a:off x="2057400" y="2295144"/>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42" name="Shape 40"/>
          <p:cNvSpPr/>
          <p:nvPr/>
        </p:nvSpPr>
        <p:spPr>
          <a:xfrm>
            <a:off x="2834640" y="2295144"/>
            <a:ext cx="749808" cy="256032"/>
          </a:xfrm>
          <a:prstGeom prst="rect">
            <a:avLst/>
          </a:prstGeom>
          <a:solidFill>
            <a:srgbClr val="2D6A4F"/>
          </a:solidFill>
          <a:ln/>
        </p:spPr>
      </p:sp>
      <p:sp>
        <p:nvSpPr>
          <p:cNvPr id="43" name="Text 41"/>
          <p:cNvSpPr/>
          <p:nvPr/>
        </p:nvSpPr>
        <p:spPr>
          <a:xfrm>
            <a:off x="2834640" y="2295144"/>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44" name="Shape 42"/>
          <p:cNvSpPr/>
          <p:nvPr/>
        </p:nvSpPr>
        <p:spPr>
          <a:xfrm>
            <a:off x="3611880" y="2295144"/>
            <a:ext cx="749808" cy="256032"/>
          </a:xfrm>
          <a:prstGeom prst="rect">
            <a:avLst/>
          </a:prstGeom>
          <a:solidFill>
            <a:srgbClr val="2D6A4F"/>
          </a:solidFill>
          <a:ln/>
        </p:spPr>
      </p:sp>
      <p:sp>
        <p:nvSpPr>
          <p:cNvPr id="45" name="Text 43"/>
          <p:cNvSpPr/>
          <p:nvPr/>
        </p:nvSpPr>
        <p:spPr>
          <a:xfrm>
            <a:off x="3611880" y="2295144"/>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46" name="Shape 44"/>
          <p:cNvSpPr/>
          <p:nvPr/>
        </p:nvSpPr>
        <p:spPr>
          <a:xfrm>
            <a:off x="502920" y="2587752"/>
            <a:ext cx="749808" cy="256032"/>
          </a:xfrm>
          <a:prstGeom prst="rect">
            <a:avLst/>
          </a:prstGeom>
          <a:solidFill>
            <a:srgbClr val="C9963A"/>
          </a:solidFill>
          <a:ln/>
        </p:spPr>
      </p:sp>
      <p:sp>
        <p:nvSpPr>
          <p:cNvPr id="47" name="Text 45"/>
          <p:cNvSpPr/>
          <p:nvPr/>
        </p:nvSpPr>
        <p:spPr>
          <a:xfrm>
            <a:off x="502920" y="2587752"/>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Val</a:t>
            </a:r>
            <a:endParaRPr lang="en-US" sz="850" dirty="0"/>
          </a:p>
        </p:txBody>
      </p:sp>
      <p:sp>
        <p:nvSpPr>
          <p:cNvPr id="48" name="Shape 46"/>
          <p:cNvSpPr/>
          <p:nvPr/>
        </p:nvSpPr>
        <p:spPr>
          <a:xfrm>
            <a:off x="1280160" y="2587752"/>
            <a:ext cx="749808" cy="256032"/>
          </a:xfrm>
          <a:prstGeom prst="rect">
            <a:avLst/>
          </a:prstGeom>
          <a:solidFill>
            <a:srgbClr val="2D6A4F"/>
          </a:solidFill>
          <a:ln/>
        </p:spPr>
      </p:sp>
      <p:sp>
        <p:nvSpPr>
          <p:cNvPr id="49" name="Text 47"/>
          <p:cNvSpPr/>
          <p:nvPr/>
        </p:nvSpPr>
        <p:spPr>
          <a:xfrm>
            <a:off x="1280160" y="2587752"/>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50" name="Shape 48"/>
          <p:cNvSpPr/>
          <p:nvPr/>
        </p:nvSpPr>
        <p:spPr>
          <a:xfrm>
            <a:off x="2057400" y="2587752"/>
            <a:ext cx="749808" cy="256032"/>
          </a:xfrm>
          <a:prstGeom prst="rect">
            <a:avLst/>
          </a:prstGeom>
          <a:solidFill>
            <a:srgbClr val="2D6A4F"/>
          </a:solidFill>
          <a:ln/>
        </p:spPr>
      </p:sp>
      <p:sp>
        <p:nvSpPr>
          <p:cNvPr id="51" name="Text 49"/>
          <p:cNvSpPr/>
          <p:nvPr/>
        </p:nvSpPr>
        <p:spPr>
          <a:xfrm>
            <a:off x="2057400" y="2587752"/>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52" name="Shape 50"/>
          <p:cNvSpPr/>
          <p:nvPr/>
        </p:nvSpPr>
        <p:spPr>
          <a:xfrm>
            <a:off x="2834640" y="2587752"/>
            <a:ext cx="749808" cy="256032"/>
          </a:xfrm>
          <a:prstGeom prst="rect">
            <a:avLst/>
          </a:prstGeom>
          <a:solidFill>
            <a:srgbClr val="2D6A4F"/>
          </a:solidFill>
          <a:ln/>
        </p:spPr>
      </p:sp>
      <p:sp>
        <p:nvSpPr>
          <p:cNvPr id="53" name="Text 51"/>
          <p:cNvSpPr/>
          <p:nvPr/>
        </p:nvSpPr>
        <p:spPr>
          <a:xfrm>
            <a:off x="2834640" y="2587752"/>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54" name="Shape 52"/>
          <p:cNvSpPr/>
          <p:nvPr/>
        </p:nvSpPr>
        <p:spPr>
          <a:xfrm>
            <a:off x="3611880" y="2587752"/>
            <a:ext cx="749808" cy="256032"/>
          </a:xfrm>
          <a:prstGeom prst="rect">
            <a:avLst/>
          </a:prstGeom>
          <a:solidFill>
            <a:srgbClr val="2D6A4F"/>
          </a:solidFill>
          <a:ln/>
        </p:spPr>
      </p:sp>
      <p:sp>
        <p:nvSpPr>
          <p:cNvPr id="55" name="Text 53"/>
          <p:cNvSpPr/>
          <p:nvPr/>
        </p:nvSpPr>
        <p:spPr>
          <a:xfrm>
            <a:off x="3611880" y="2587752"/>
            <a:ext cx="749808" cy="256032"/>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Train</a:t>
            </a:r>
            <a:endParaRPr lang="en-US" sz="850" dirty="0"/>
          </a:p>
        </p:txBody>
      </p:sp>
      <p:sp>
        <p:nvSpPr>
          <p:cNvPr id="56" name="Text 54"/>
          <p:cNvSpPr/>
          <p:nvPr/>
        </p:nvSpPr>
        <p:spPr>
          <a:xfrm>
            <a:off x="502920" y="2897124"/>
            <a:ext cx="3931920" cy="146304"/>
          </a:xfrm>
          <a:prstGeom prst="rect">
            <a:avLst/>
          </a:prstGeom>
          <a:noFill/>
          <a:ln/>
        </p:spPr>
        <p:txBody>
          <a:bodyPr wrap="square" lIns="0" tIns="0" rIns="0" bIns="0" rtlCol="0" anchor="ctr"/>
          <a:lstStyle/>
          <a:p>
            <a:pPr marL="0" indent="0">
              <a:buNone/>
            </a:pPr>
            <a:r>
              <a:rPr lang="en-US" sz="700" i="1" dirty="0">
                <a:solidFill>
                  <a:srgbClr val="6B7280"/>
                </a:solidFill>
                <a:latin typeface="Calibri" pitchFamily="34" charset="0"/>
                <a:ea typeface="Calibri" pitchFamily="34" charset="-122"/>
                <a:cs typeface="Calibri" pitchFamily="34" charset="-120"/>
              </a:rPr>
              <a:t>Average MAPE across 5 folds = reliable, unbiased estimate of true model quality</a:t>
            </a:r>
            <a:endParaRPr lang="en-US" sz="700" dirty="0"/>
          </a:p>
        </p:txBody>
      </p:sp>
      <p:sp>
        <p:nvSpPr>
          <p:cNvPr id="57" name="Shape 55"/>
          <p:cNvSpPr/>
          <p:nvPr/>
        </p:nvSpPr>
        <p:spPr>
          <a:xfrm>
            <a:off x="4800600" y="914400"/>
            <a:ext cx="3977640" cy="2194560"/>
          </a:xfrm>
          <a:prstGeom prst="rect">
            <a:avLst/>
          </a:prstGeom>
          <a:solidFill>
            <a:srgbClr val="1B4332"/>
          </a:solidFill>
          <a:ln/>
          <a:effectLst>
            <a:outerShdw blurRad="101600" dist="38100" dir="8100000" algn="bl" rotWithShape="0">
              <a:srgbClr val="000000">
                <a:alpha val="10000"/>
              </a:srgbClr>
            </a:outerShdw>
          </a:effectLst>
        </p:spPr>
      </p:sp>
      <p:sp>
        <p:nvSpPr>
          <p:cNvPr id="58" name="Text 56"/>
          <p:cNvSpPr/>
          <p:nvPr/>
        </p:nvSpPr>
        <p:spPr>
          <a:xfrm>
            <a:off x="4937760" y="1005840"/>
            <a:ext cx="3703320" cy="329184"/>
          </a:xfrm>
          <a:prstGeom prst="rect">
            <a:avLst/>
          </a:prstGeom>
          <a:noFill/>
          <a:ln/>
        </p:spPr>
        <p:txBody>
          <a:bodyPr wrap="square" lIns="0" tIns="0" rIns="0" bIns="0" rtlCol="0" anchor="ctr"/>
          <a:lstStyle/>
          <a:p>
            <a:pPr marL="0" indent="0">
              <a:buNone/>
            </a:pPr>
            <a:r>
              <a:rPr lang="en-US" sz="1300" b="1" dirty="0">
                <a:solidFill>
                  <a:srgbClr val="52B788"/>
                </a:solidFill>
                <a:latin typeface="Georgia" pitchFamily="34" charset="0"/>
                <a:ea typeface="Georgia" pitchFamily="34" charset="-122"/>
                <a:cs typeface="Georgia" pitchFamily="34" charset="-120"/>
              </a:rPr>
              <a:t>Inverse-MAPE Weighting</a:t>
            </a:r>
            <a:endParaRPr lang="en-US" sz="1300" dirty="0"/>
          </a:p>
        </p:txBody>
      </p:sp>
      <p:sp>
        <p:nvSpPr>
          <p:cNvPr id="59" name="Text 57"/>
          <p:cNvSpPr/>
          <p:nvPr/>
        </p:nvSpPr>
        <p:spPr>
          <a:xfrm>
            <a:off x="4937760" y="1389888"/>
            <a:ext cx="3703320" cy="5029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Better models get a higher weight in the final blend. Weight = (1 / model MAPE) normalised across all models.</a:t>
            </a:r>
            <a:endParaRPr lang="en-US" sz="1100" dirty="0"/>
          </a:p>
        </p:txBody>
      </p:sp>
      <p:sp>
        <p:nvSpPr>
          <p:cNvPr id="60" name="Shape 58"/>
          <p:cNvSpPr/>
          <p:nvPr/>
        </p:nvSpPr>
        <p:spPr>
          <a:xfrm>
            <a:off x="4937760" y="1984248"/>
            <a:ext cx="3703320" cy="457200"/>
          </a:xfrm>
          <a:prstGeom prst="rect">
            <a:avLst/>
          </a:prstGeom>
          <a:solidFill>
            <a:srgbClr val="2D6A4F"/>
          </a:solidFill>
          <a:ln/>
        </p:spPr>
      </p:sp>
      <p:sp>
        <p:nvSpPr>
          <p:cNvPr id="61" name="Text 59"/>
          <p:cNvSpPr/>
          <p:nvPr/>
        </p:nvSpPr>
        <p:spPr>
          <a:xfrm>
            <a:off x="5029200" y="2020824"/>
            <a:ext cx="1828800"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LGB + RF Ensemble</a:t>
            </a:r>
            <a:endParaRPr lang="en-US" sz="1000" dirty="0"/>
          </a:p>
        </p:txBody>
      </p:sp>
      <p:sp>
        <p:nvSpPr>
          <p:cNvPr id="62" name="Text 60"/>
          <p:cNvSpPr/>
          <p:nvPr/>
        </p:nvSpPr>
        <p:spPr>
          <a:xfrm>
            <a:off x="5029200" y="2231136"/>
            <a:ext cx="1645920" cy="164592"/>
          </a:xfrm>
          <a:prstGeom prst="rect">
            <a:avLst/>
          </a:prstGeom>
          <a:noFill/>
          <a:ln/>
        </p:spPr>
        <p:txBody>
          <a:bodyPr wrap="square" lIns="0" tIns="0" rIns="0" bIns="0" rtlCol="0" anchor="ctr"/>
          <a:lstStyle/>
          <a:p>
            <a:pPr marL="0" indent="0">
              <a:buNone/>
            </a:pPr>
            <a:endParaRPr lang="en-US" sz="900" dirty="0"/>
          </a:p>
        </p:txBody>
      </p:sp>
      <p:sp>
        <p:nvSpPr>
          <p:cNvPr id="63" name="Text 61"/>
          <p:cNvSpPr/>
          <p:nvPr/>
        </p:nvSpPr>
        <p:spPr>
          <a:xfrm>
            <a:off x="7863840" y="2075688"/>
            <a:ext cx="731520" cy="274320"/>
          </a:xfrm>
          <a:prstGeom prst="rect">
            <a:avLst/>
          </a:prstGeom>
          <a:noFill/>
          <a:ln/>
        </p:spPr>
        <p:txBody>
          <a:bodyPr wrap="square" lIns="0" tIns="0" rIns="0" bIns="0" rtlCol="0" anchor="ctr"/>
          <a:lstStyle/>
          <a:p>
            <a:pPr marL="0" indent="0" algn="r">
              <a:buNone/>
            </a:pPr>
            <a:r>
              <a:rPr lang="en-US" sz="1200" b="1" dirty="0">
                <a:solidFill>
                  <a:srgbClr val="C9963A"/>
                </a:solidFill>
                <a:latin typeface="Georgia" pitchFamily="34" charset="0"/>
                <a:ea typeface="Georgia" pitchFamily="34" charset="-122"/>
                <a:cs typeface="Georgia" pitchFamily="34" charset="-120"/>
              </a:rPr>
              <a:t>20.24%</a:t>
            </a:r>
            <a:endParaRPr lang="en-US" sz="1200" dirty="0"/>
          </a:p>
        </p:txBody>
      </p:sp>
      <p:sp>
        <p:nvSpPr>
          <p:cNvPr id="64" name="Text 62"/>
          <p:cNvSpPr/>
          <p:nvPr/>
        </p:nvSpPr>
        <p:spPr>
          <a:xfrm>
            <a:off x="6858000" y="2075688"/>
            <a:ext cx="914400" cy="256032"/>
          </a:xfrm>
          <a:prstGeom prst="rect">
            <a:avLst/>
          </a:prstGeom>
          <a:noFill/>
          <a:ln/>
        </p:spPr>
        <p:txBody>
          <a:bodyPr wrap="square" lIns="0" tIns="0" rIns="0" bIns="0" rtlCol="0" anchor="ctr"/>
          <a:lstStyle/>
          <a:p>
            <a:pPr marL="0" indent="0" algn="ctr">
              <a:buNone/>
            </a:pPr>
            <a:r>
              <a:rPr lang="en-US" sz="900" b="1" dirty="0">
                <a:solidFill>
                  <a:srgbClr val="C9963A"/>
                </a:solidFill>
                <a:latin typeface="Calibri" pitchFamily="34" charset="0"/>
                <a:ea typeface="Calibri" pitchFamily="34" charset="-122"/>
                <a:cs typeface="Calibri" pitchFamily="34" charset="-120"/>
              </a:rPr>
              <a:t>CHOSEN</a:t>
            </a:r>
            <a:endParaRPr lang="en-US" sz="900" dirty="0"/>
          </a:p>
        </p:txBody>
      </p:sp>
      <p:sp>
        <p:nvSpPr>
          <p:cNvPr id="65" name="Shape 63"/>
          <p:cNvSpPr/>
          <p:nvPr/>
        </p:nvSpPr>
        <p:spPr>
          <a:xfrm>
            <a:off x="4937760" y="2551176"/>
            <a:ext cx="3703320" cy="457200"/>
          </a:xfrm>
          <a:prstGeom prst="rect">
            <a:avLst/>
          </a:prstGeom>
          <a:solidFill>
            <a:srgbClr val="3A4A5A"/>
          </a:solidFill>
          <a:ln/>
        </p:spPr>
      </p:sp>
      <p:sp>
        <p:nvSpPr>
          <p:cNvPr id="66" name="Text 64"/>
          <p:cNvSpPr/>
          <p:nvPr/>
        </p:nvSpPr>
        <p:spPr>
          <a:xfrm>
            <a:off x="5029200" y="2587752"/>
            <a:ext cx="1828800" cy="219456"/>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LGB + XGB + RF</a:t>
            </a:r>
            <a:endParaRPr lang="en-US" sz="1000" dirty="0"/>
          </a:p>
        </p:txBody>
      </p:sp>
      <p:sp>
        <p:nvSpPr>
          <p:cNvPr id="68" name="Text 66"/>
          <p:cNvSpPr/>
          <p:nvPr/>
        </p:nvSpPr>
        <p:spPr>
          <a:xfrm>
            <a:off x="7863840" y="2642616"/>
            <a:ext cx="731520" cy="274320"/>
          </a:xfrm>
          <a:prstGeom prst="rect">
            <a:avLst/>
          </a:prstGeom>
          <a:noFill/>
          <a:ln/>
        </p:spPr>
        <p:txBody>
          <a:bodyPr wrap="square" lIns="0" tIns="0" rIns="0" bIns="0" rtlCol="0" anchor="ctr"/>
          <a:lstStyle/>
          <a:p>
            <a:pPr marL="0" indent="0" algn="r">
              <a:buNone/>
            </a:pPr>
            <a:r>
              <a:rPr lang="en-US" sz="1200" dirty="0">
                <a:solidFill>
                  <a:srgbClr val="D8F3DC"/>
                </a:solidFill>
                <a:latin typeface="Georgia" pitchFamily="34" charset="0"/>
                <a:ea typeface="Georgia" pitchFamily="34" charset="-122"/>
                <a:cs typeface="Georgia" pitchFamily="34" charset="-120"/>
              </a:rPr>
              <a:t>20.42%</a:t>
            </a:r>
            <a:endParaRPr lang="en-US" sz="1200" dirty="0"/>
          </a:p>
        </p:txBody>
      </p:sp>
      <p:sp>
        <p:nvSpPr>
          <p:cNvPr id="69" name="Shape 67"/>
          <p:cNvSpPr/>
          <p:nvPr/>
        </p:nvSpPr>
        <p:spPr>
          <a:xfrm>
            <a:off x="365760" y="3246120"/>
            <a:ext cx="8412480" cy="1694180"/>
          </a:xfrm>
          <a:prstGeom prst="rect">
            <a:avLst/>
          </a:prstGeom>
          <a:solidFill>
            <a:srgbClr val="1E2029"/>
          </a:solidFill>
          <a:ln/>
        </p:spPr>
      </p:sp>
      <p:sp>
        <p:nvSpPr>
          <p:cNvPr id="70" name="Text 68"/>
          <p:cNvSpPr/>
          <p:nvPr/>
        </p:nvSpPr>
        <p:spPr>
          <a:xfrm>
            <a:off x="365760" y="3246120"/>
            <a:ext cx="8412480" cy="256032"/>
          </a:xfrm>
          <a:prstGeom prst="rect">
            <a:avLst/>
          </a:prstGeom>
          <a:noFill/>
          <a:ln/>
        </p:spPr>
        <p:txBody>
          <a:bodyPr wrap="square" lIns="63500" tIns="63500" rIns="63500" bIns="63500" rtlCol="0" anchor="ctr"/>
          <a:lstStyle/>
          <a:p>
            <a:pPr marL="0" indent="0">
              <a:buNone/>
            </a:pPr>
            <a:r>
              <a:rPr lang="en-US" sz="900" dirty="0">
                <a:solidFill>
                  <a:srgbClr val="5C6370"/>
                </a:solidFill>
                <a:latin typeface="Courier New" pitchFamily="34" charset="0"/>
                <a:ea typeface="Courier New" pitchFamily="34" charset="-122"/>
                <a:cs typeface="Courier New" pitchFamily="34" charset="-120"/>
              </a:rPr>
              <a:t>python</a:t>
            </a:r>
            <a:endParaRPr lang="en-US" sz="900" dirty="0"/>
          </a:p>
        </p:txBody>
      </p:sp>
      <p:sp>
        <p:nvSpPr>
          <p:cNvPr id="71" name="Text 69"/>
          <p:cNvSpPr/>
          <p:nvPr/>
        </p:nvSpPr>
        <p:spPr>
          <a:xfrm>
            <a:off x="411480" y="3493008"/>
            <a:ext cx="8321040" cy="1143000"/>
          </a:xfrm>
          <a:prstGeom prst="rect">
            <a:avLst/>
          </a:prstGeom>
          <a:noFill/>
          <a:ln/>
        </p:spPr>
        <p:txBody>
          <a:bodyPr wrap="square" lIns="101600" tIns="101600" rIns="101600" bIns="101600" rtlCol="0" anchor="t"/>
          <a:lstStyle/>
          <a:p>
            <a:pPr marL="0" indent="0">
              <a:buNone/>
            </a:pPr>
            <a:r>
              <a:rPr lang="en-US" sz="1050" dirty="0">
                <a:solidFill>
                  <a:srgbClr val="ABB2BF"/>
                </a:solidFill>
                <a:latin typeface="Courier New" pitchFamily="34" charset="0"/>
                <a:ea typeface="Courier New" pitchFamily="34" charset="-122"/>
                <a:cs typeface="Courier New" pitchFamily="34" charset="-120"/>
              </a:rPr>
              <a:t>def inverse_mape_weights(*cv_mapes):</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inv = [1.0 / m for m in cv_mapes]</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    return tuple(i / sum(inv) for i in inv)</a:t>
            </a:r>
            <a:endParaRPr lang="en-US" sz="1050" dirty="0"/>
          </a:p>
          <a:p>
            <a:pPr marL="0" indent="0">
              <a:buNone/>
            </a:pP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w_lgb, w_rf = inverse_mape_weights(lgb_cv_mape, rf_cv_mape)</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blend = np.clip(w_lgb * lgb_preds + w_rf * rf_preds, 1, None)</a:t>
            </a:r>
            <a:endParaRPr lang="en-US" sz="1050" dirty="0"/>
          </a:p>
        </p:txBody>
      </p:sp>
      <p:sp>
        <p:nvSpPr>
          <p:cNvPr id="72" name="Text 70"/>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12</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Final Results</a:t>
            </a:r>
            <a:endParaRPr lang="en-US" sz="2600" dirty="0"/>
          </a:p>
        </p:txBody>
      </p:sp>
      <p:pic>
        <p:nvPicPr>
          <p:cNvPr id="4" name="Image 0" descr="/home/claude/charts/chart_model_perf.png"/>
          <p:cNvPicPr>
            <a:picLocks noChangeAspect="1"/>
          </p:cNvPicPr>
          <p:nvPr/>
        </p:nvPicPr>
        <p:blipFill>
          <a:blip r:embed="rId3"/>
          <a:stretch>
            <a:fillRect/>
          </a:stretch>
        </p:blipFill>
        <p:spPr>
          <a:xfrm>
            <a:off x="365760" y="914400"/>
            <a:ext cx="5212080" cy="260604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806440" y="1005840"/>
          <a:ext cx="2971800" cy="2103120"/>
        </p:xfrm>
        <a:graphic>
          <a:graphicData uri="http://schemas.openxmlformats.org/drawingml/2006/table">
            <a:tbl>
              <a:tblPr/>
              <a:tblGrid>
                <a:gridCol w="1554480">
                  <a:extLst>
                    <a:ext uri="{9D8B030D-6E8A-4147-A177-3AD203B41FA5}">
                      <a16:colId xmlns:a16="http://schemas.microsoft.com/office/drawing/2014/main" val="20000"/>
                    </a:ext>
                  </a:extLst>
                </a:gridCol>
                <a:gridCol w="749808">
                  <a:extLst>
                    <a:ext uri="{9D8B030D-6E8A-4147-A177-3AD203B41FA5}">
                      <a16:colId xmlns:a16="http://schemas.microsoft.com/office/drawing/2014/main" val="20001"/>
                    </a:ext>
                  </a:extLst>
                </a:gridCol>
                <a:gridCol w="667512">
                  <a:extLst>
                    <a:ext uri="{9D8B030D-6E8A-4147-A177-3AD203B41FA5}">
                      <a16:colId xmlns:a16="http://schemas.microsoft.com/office/drawing/2014/main" val="20002"/>
                    </a:ext>
                  </a:extLst>
                </a:gridCol>
              </a:tblGrid>
              <a:tr h="420624">
                <a:tc>
                  <a:txBody>
                    <a:bodyPr/>
                    <a:lstStyle/>
                    <a:p>
                      <a:pPr marL="0" indent="0">
                        <a:buNone/>
                      </a:pPr>
                      <a:r>
                        <a:rPr lang="en-US" sz="1200" b="1" dirty="0">
                          <a:solidFill>
                            <a:srgbClr val="FFFFFF"/>
                          </a:solidFill>
                        </a:rPr>
                        <a:t>Model</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buNone/>
                      </a:pPr>
                      <a:r>
                        <a:rPr lang="en-US" sz="1200" b="1" dirty="0">
                          <a:solidFill>
                            <a:srgbClr val="FFFFFF"/>
                          </a:solidFill>
                        </a:rPr>
                        <a:t>MAPE</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tc>
                  <a:txBody>
                    <a:bodyPr/>
                    <a:lstStyle/>
                    <a:p>
                      <a:pPr marL="0" indent="0">
                        <a:buNone/>
                      </a:pPr>
                      <a:r>
                        <a:rPr lang="en-US" sz="1200" b="1" dirty="0">
                          <a:solidFill>
                            <a:srgbClr val="FFFFFF"/>
                          </a:solidFill>
                        </a:rPr>
                        <a:t>R²</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4332"/>
                    </a:solidFill>
                  </a:tcPr>
                </a:tc>
                <a:extLst>
                  <a:ext uri="{0D108BD9-81ED-4DB2-BD59-A6C34878D82A}">
                    <a16:rowId xmlns:a16="http://schemas.microsoft.com/office/drawing/2014/main" val="10000"/>
                  </a:ext>
                </a:extLst>
              </a:tr>
              <a:tr h="420624">
                <a:tc>
                  <a:txBody>
                    <a:bodyPr/>
                    <a:lstStyle/>
                    <a:p>
                      <a:pPr marL="0" indent="0">
                        <a:buNone/>
                      </a:pPr>
                      <a:r>
                        <a:rPr lang="en-US" sz="1200" dirty="0">
                          <a:solidFill>
                            <a:srgbClr val="000000"/>
                          </a:solidFill>
                        </a:rPr>
                        <a:t>Random Forest</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24.34%</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0.373</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200" dirty="0">
                          <a:solidFill>
                            <a:srgbClr val="000000"/>
                          </a:solidFill>
                        </a:rPr>
                        <a:t>XGBoost</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22.26%</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0.791</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200" dirty="0">
                          <a:solidFill>
                            <a:srgbClr val="000000"/>
                          </a:solidFill>
                        </a:rPr>
                        <a:t>LGB + XGB + RF</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20.42%</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rPr>
                        <a:t>0.878</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200" b="1" dirty="0">
                          <a:solidFill>
                            <a:srgbClr val="1B4332"/>
                          </a:solidFill>
                        </a:rPr>
                        <a:t>LGB + RF  (Final)</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b="1" dirty="0">
                          <a:solidFill>
                            <a:srgbClr val="1B4332"/>
                          </a:solidFill>
                        </a:rPr>
                        <a:t>20.24%</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b="1" dirty="0">
                          <a:solidFill>
                            <a:srgbClr val="1B4332"/>
                          </a:solidFill>
                        </a:rPr>
                        <a:t>0.882</a:t>
                      </a:r>
                      <a:endParaRPr lang="en-US" sz="12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2"/>
          <p:cNvSpPr/>
          <p:nvPr/>
        </p:nvSpPr>
        <p:spPr>
          <a:xfrm>
            <a:off x="5806440" y="2724912"/>
            <a:ext cx="2971800" cy="420624"/>
          </a:xfrm>
          <a:prstGeom prst="rect">
            <a:avLst/>
          </a:prstGeom>
          <a:solidFill>
            <a:srgbClr val="D8F3DC"/>
          </a:solidFill>
          <a:ln/>
        </p:spPr>
      </p:sp>
      <p:sp>
        <p:nvSpPr>
          <p:cNvPr id="7" name="Text 3"/>
          <p:cNvSpPr/>
          <p:nvPr/>
        </p:nvSpPr>
        <p:spPr>
          <a:xfrm>
            <a:off x="5870448" y="2761488"/>
            <a:ext cx="1554480" cy="347472"/>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LGB + RF  (Final)</a:t>
            </a:r>
            <a:endParaRPr lang="en-US" sz="1100" dirty="0"/>
          </a:p>
        </p:txBody>
      </p:sp>
      <p:sp>
        <p:nvSpPr>
          <p:cNvPr id="8" name="Text 4"/>
          <p:cNvSpPr/>
          <p:nvPr/>
        </p:nvSpPr>
        <p:spPr>
          <a:xfrm>
            <a:off x="7452360" y="2761488"/>
            <a:ext cx="749808" cy="347472"/>
          </a:xfrm>
          <a:prstGeom prst="rect">
            <a:avLst/>
          </a:prstGeom>
          <a:noFill/>
          <a:ln/>
        </p:spPr>
        <p:txBody>
          <a:bodyPr wrap="square" lIns="0" tIns="0" rIns="0" bIns="0"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20.24%</a:t>
            </a:r>
            <a:endParaRPr lang="en-US" sz="1100" dirty="0"/>
          </a:p>
        </p:txBody>
      </p:sp>
      <p:sp>
        <p:nvSpPr>
          <p:cNvPr id="9" name="Text 5"/>
          <p:cNvSpPr/>
          <p:nvPr/>
        </p:nvSpPr>
        <p:spPr>
          <a:xfrm>
            <a:off x="8229600" y="2761488"/>
            <a:ext cx="667512" cy="347472"/>
          </a:xfrm>
          <a:prstGeom prst="rect">
            <a:avLst/>
          </a:prstGeom>
          <a:noFill/>
          <a:ln/>
        </p:spPr>
        <p:txBody>
          <a:bodyPr wrap="square" lIns="0" tIns="0" rIns="0" bIns="0" rtlCol="0" anchor="ctr"/>
          <a:lstStyle/>
          <a:p>
            <a:pPr marL="0" indent="0" algn="ctr">
              <a:buNone/>
            </a:pPr>
            <a:r>
              <a:rPr lang="en-US" sz="1100" b="1" dirty="0">
                <a:solidFill>
                  <a:srgbClr val="1B4332"/>
                </a:solidFill>
                <a:latin typeface="Calibri" pitchFamily="34" charset="0"/>
                <a:ea typeface="Calibri" pitchFamily="34" charset="-122"/>
                <a:cs typeface="Calibri" pitchFamily="34" charset="-120"/>
              </a:rPr>
              <a:t>0.882</a:t>
            </a:r>
            <a:endParaRPr lang="en-US" sz="1100" dirty="0"/>
          </a:p>
        </p:txBody>
      </p:sp>
      <p:sp>
        <p:nvSpPr>
          <p:cNvPr id="10" name="Shape 6"/>
          <p:cNvSpPr/>
          <p:nvPr/>
        </p:nvSpPr>
        <p:spPr>
          <a:xfrm>
            <a:off x="365760" y="3749040"/>
            <a:ext cx="2697480" cy="822960"/>
          </a:xfrm>
          <a:prstGeom prst="rect">
            <a:avLst/>
          </a:prstGeom>
          <a:solidFill>
            <a:srgbClr val="1B4332"/>
          </a:solidFill>
          <a:ln/>
          <a:effectLst>
            <a:outerShdw blurRad="101600" dist="38100" dir="8100000" algn="bl" rotWithShape="0">
              <a:srgbClr val="000000">
                <a:alpha val="10000"/>
              </a:srgbClr>
            </a:outerShdw>
          </a:effectLst>
        </p:spPr>
      </p:sp>
      <p:sp>
        <p:nvSpPr>
          <p:cNvPr id="11" name="Text 7"/>
          <p:cNvSpPr/>
          <p:nvPr/>
        </p:nvSpPr>
        <p:spPr>
          <a:xfrm>
            <a:off x="365760" y="3776472"/>
            <a:ext cx="2697480" cy="438912"/>
          </a:xfrm>
          <a:prstGeom prst="rect">
            <a:avLst/>
          </a:prstGeom>
          <a:noFill/>
          <a:ln/>
        </p:spPr>
        <p:txBody>
          <a:bodyPr wrap="square" lIns="0" tIns="0" rIns="0" bIns="0" rtlCol="0" anchor="ctr"/>
          <a:lstStyle/>
          <a:p>
            <a:pPr marL="0" indent="0" algn="ctr">
              <a:buNone/>
            </a:pPr>
            <a:r>
              <a:rPr lang="en-US" sz="2600" b="1" dirty="0">
                <a:solidFill>
                  <a:srgbClr val="C9963A"/>
                </a:solidFill>
                <a:latin typeface="Georgia" pitchFamily="34" charset="0"/>
                <a:ea typeface="Georgia" pitchFamily="34" charset="-122"/>
                <a:cs typeface="Georgia" pitchFamily="34" charset="-120"/>
              </a:rPr>
              <a:t>20.24%</a:t>
            </a:r>
            <a:endParaRPr lang="en-US" sz="2600" dirty="0"/>
          </a:p>
        </p:txBody>
      </p:sp>
      <p:sp>
        <p:nvSpPr>
          <p:cNvPr id="12" name="Text 8"/>
          <p:cNvSpPr/>
          <p:nvPr/>
        </p:nvSpPr>
        <p:spPr>
          <a:xfrm>
            <a:off x="365760" y="4224528"/>
            <a:ext cx="2697480" cy="274320"/>
          </a:xfrm>
          <a:prstGeom prst="rect">
            <a:avLst/>
          </a:prstGeom>
          <a:noFill/>
          <a:ln/>
        </p:spPr>
        <p:txBody>
          <a:bodyPr wrap="square" lIns="0" tIns="0" rIns="0" bIns="0" rtlCol="0" anchor="ctr"/>
          <a:lstStyle/>
          <a:p>
            <a:pPr marL="0" indent="0" algn="ctr">
              <a:buNone/>
            </a:pPr>
            <a:r>
              <a:rPr lang="en-US" sz="1100" dirty="0">
                <a:solidFill>
                  <a:srgbClr val="D8F3DC"/>
                </a:solidFill>
                <a:latin typeface="Calibri" pitchFamily="34" charset="0"/>
                <a:ea typeface="Calibri" pitchFamily="34" charset="-122"/>
                <a:cs typeface="Calibri" pitchFamily="34" charset="-120"/>
              </a:rPr>
              <a:t>Final MAPE</a:t>
            </a:r>
            <a:endParaRPr lang="en-US" sz="1100" dirty="0"/>
          </a:p>
        </p:txBody>
      </p:sp>
      <p:sp>
        <p:nvSpPr>
          <p:cNvPr id="13" name="Shape 9"/>
          <p:cNvSpPr/>
          <p:nvPr/>
        </p:nvSpPr>
        <p:spPr>
          <a:xfrm>
            <a:off x="3291840" y="3749040"/>
            <a:ext cx="2697480" cy="822960"/>
          </a:xfrm>
          <a:prstGeom prst="rect">
            <a:avLst/>
          </a:prstGeom>
          <a:solidFill>
            <a:srgbClr val="1B4332"/>
          </a:solidFill>
          <a:ln/>
          <a:effectLst>
            <a:outerShdw blurRad="101600" dist="38100" dir="8100000" algn="bl" rotWithShape="0">
              <a:srgbClr val="000000">
                <a:alpha val="10000"/>
              </a:srgbClr>
            </a:outerShdw>
          </a:effectLst>
        </p:spPr>
      </p:sp>
      <p:sp>
        <p:nvSpPr>
          <p:cNvPr id="5" name="Text 10"/>
          <p:cNvSpPr/>
          <p:nvPr/>
        </p:nvSpPr>
        <p:spPr>
          <a:xfrm>
            <a:off x="3291840" y="3776472"/>
            <a:ext cx="2697480" cy="438912"/>
          </a:xfrm>
          <a:prstGeom prst="rect">
            <a:avLst/>
          </a:prstGeom>
          <a:noFill/>
          <a:ln/>
        </p:spPr>
        <p:txBody>
          <a:bodyPr wrap="square" lIns="0" tIns="0" rIns="0" bIns="0" rtlCol="0" anchor="ctr"/>
          <a:lstStyle/>
          <a:p>
            <a:pPr marL="0" indent="0" algn="ctr">
              <a:buNone/>
            </a:pPr>
            <a:r>
              <a:rPr lang="en-US" sz="2600" b="1" dirty="0">
                <a:solidFill>
                  <a:srgbClr val="C9963A"/>
                </a:solidFill>
                <a:latin typeface="Georgia" pitchFamily="34" charset="0"/>
                <a:ea typeface="Georgia" pitchFamily="34" charset="-122"/>
                <a:cs typeface="Georgia" pitchFamily="34" charset="-120"/>
              </a:rPr>
              <a:t>0.882</a:t>
            </a:r>
            <a:endParaRPr lang="en-US" sz="2600" dirty="0"/>
          </a:p>
        </p:txBody>
      </p:sp>
      <p:sp>
        <p:nvSpPr>
          <p:cNvPr id="15" name="Text 11"/>
          <p:cNvSpPr/>
          <p:nvPr/>
        </p:nvSpPr>
        <p:spPr>
          <a:xfrm>
            <a:off x="3291840" y="4224528"/>
            <a:ext cx="2697480" cy="274320"/>
          </a:xfrm>
          <a:prstGeom prst="rect">
            <a:avLst/>
          </a:prstGeom>
          <a:noFill/>
          <a:ln/>
        </p:spPr>
        <p:txBody>
          <a:bodyPr wrap="square" lIns="0" tIns="0" rIns="0" bIns="0" rtlCol="0" anchor="ctr"/>
          <a:lstStyle/>
          <a:p>
            <a:pPr marL="0" indent="0" algn="ctr">
              <a:buNone/>
            </a:pPr>
            <a:r>
              <a:rPr lang="en-US" sz="1100" dirty="0">
                <a:solidFill>
                  <a:srgbClr val="D8F3DC"/>
                </a:solidFill>
                <a:latin typeface="Calibri" pitchFamily="34" charset="0"/>
                <a:ea typeface="Calibri" pitchFamily="34" charset="-122"/>
                <a:cs typeface="Calibri" pitchFamily="34" charset="-120"/>
              </a:rPr>
              <a:t>R² Score</a:t>
            </a:r>
            <a:endParaRPr lang="en-US" sz="1100" dirty="0"/>
          </a:p>
        </p:txBody>
      </p:sp>
      <p:sp>
        <p:nvSpPr>
          <p:cNvPr id="16" name="Shape 12"/>
          <p:cNvSpPr/>
          <p:nvPr/>
        </p:nvSpPr>
        <p:spPr>
          <a:xfrm>
            <a:off x="6217920" y="3749040"/>
            <a:ext cx="2697480" cy="822960"/>
          </a:xfrm>
          <a:prstGeom prst="rect">
            <a:avLst/>
          </a:prstGeom>
          <a:solidFill>
            <a:srgbClr val="1B4332"/>
          </a:solidFill>
          <a:ln/>
          <a:effectLst>
            <a:outerShdw blurRad="101600" dist="38100" dir="8100000" algn="bl" rotWithShape="0">
              <a:srgbClr val="000000">
                <a:alpha val="10000"/>
              </a:srgbClr>
            </a:outerShdw>
          </a:effectLst>
        </p:spPr>
      </p:sp>
      <p:sp>
        <p:nvSpPr>
          <p:cNvPr id="17" name="Text 13"/>
          <p:cNvSpPr/>
          <p:nvPr/>
        </p:nvSpPr>
        <p:spPr>
          <a:xfrm>
            <a:off x="6217920" y="3776472"/>
            <a:ext cx="2697480" cy="438912"/>
          </a:xfrm>
          <a:prstGeom prst="rect">
            <a:avLst/>
          </a:prstGeom>
          <a:noFill/>
          <a:ln/>
        </p:spPr>
        <p:txBody>
          <a:bodyPr wrap="square" lIns="0" tIns="0" rIns="0" bIns="0" rtlCol="0" anchor="ctr"/>
          <a:lstStyle/>
          <a:p>
            <a:pPr marL="0" indent="0" algn="ctr">
              <a:buNone/>
            </a:pPr>
            <a:r>
              <a:rPr lang="en-US" sz="2600" b="1" dirty="0">
                <a:solidFill>
                  <a:srgbClr val="C9963A"/>
                </a:solidFill>
                <a:latin typeface="Georgia" pitchFamily="34" charset="0"/>
                <a:ea typeface="Georgia" pitchFamily="34" charset="-122"/>
                <a:cs typeface="Georgia" pitchFamily="34" charset="-120"/>
              </a:rPr>
              <a:t>₹7.4L</a:t>
            </a:r>
            <a:endParaRPr lang="en-US" sz="2600" dirty="0"/>
          </a:p>
        </p:txBody>
      </p:sp>
      <p:sp>
        <p:nvSpPr>
          <p:cNvPr id="18" name="Text 14"/>
          <p:cNvSpPr/>
          <p:nvPr/>
        </p:nvSpPr>
        <p:spPr>
          <a:xfrm>
            <a:off x="6217920" y="4224528"/>
            <a:ext cx="2697480" cy="274320"/>
          </a:xfrm>
          <a:prstGeom prst="rect">
            <a:avLst/>
          </a:prstGeom>
          <a:noFill/>
          <a:ln/>
        </p:spPr>
        <p:txBody>
          <a:bodyPr wrap="square" lIns="0" tIns="0" rIns="0" bIns="0" rtlCol="0" anchor="ctr"/>
          <a:lstStyle/>
          <a:p>
            <a:pPr marL="0" indent="0" algn="ctr">
              <a:buNone/>
            </a:pPr>
            <a:r>
              <a:rPr lang="en-US" sz="1100" dirty="0">
                <a:solidFill>
                  <a:srgbClr val="D8F3DC"/>
                </a:solidFill>
                <a:latin typeface="Calibri" pitchFamily="34" charset="0"/>
                <a:ea typeface="Calibri" pitchFamily="34" charset="-122"/>
                <a:cs typeface="Calibri" pitchFamily="34" charset="-120"/>
              </a:rPr>
              <a:t>Avg RMSE</a:t>
            </a:r>
            <a:endParaRPr lang="en-US" sz="1100" dirty="0"/>
          </a:p>
        </p:txBody>
      </p:sp>
      <p:sp>
        <p:nvSpPr>
          <p:cNvPr id="19" name="Text 15"/>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D8F3DC"/>
                </a:solidFill>
              </a:rPr>
              <a:t>13</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229600" cy="54864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Bonus A   (Intervention Recommender)</a:t>
            </a:r>
            <a:endParaRPr lang="en-US" sz="2400" dirty="0"/>
          </a:p>
        </p:txBody>
      </p:sp>
      <p:sp>
        <p:nvSpPr>
          <p:cNvPr id="4" name="Text 2"/>
          <p:cNvSpPr/>
          <p:nvPr/>
        </p:nvSpPr>
        <p:spPr>
          <a:xfrm>
            <a:off x="365760" y="914400"/>
            <a:ext cx="3931920" cy="329184"/>
          </a:xfrm>
          <a:prstGeom prst="rect">
            <a:avLst/>
          </a:prstGeom>
          <a:noFill/>
          <a:ln/>
        </p:spPr>
        <p:txBody>
          <a:bodyPr wrap="square" lIns="0" tIns="0" rIns="0" bIns="0" rtlCol="0" anchor="ctr"/>
          <a:lstStyle/>
          <a:p>
            <a:pPr marL="0" indent="0">
              <a:buNone/>
            </a:pPr>
            <a:r>
              <a:rPr lang="en-US" sz="1400" b="1" dirty="0">
                <a:solidFill>
                  <a:srgbClr val="1B4332"/>
                </a:solidFill>
                <a:latin typeface="Georgia" pitchFamily="34" charset="0"/>
                <a:ea typeface="Georgia" pitchFamily="34" charset="-122"/>
                <a:cs typeface="Georgia" pitchFamily="34" charset="-120"/>
              </a:rPr>
              <a:t>How it works</a:t>
            </a:r>
            <a:endParaRPr lang="en-US" sz="1400" dirty="0"/>
          </a:p>
        </p:txBody>
      </p:sp>
      <p:sp>
        <p:nvSpPr>
          <p:cNvPr id="5" name="Shape 3"/>
          <p:cNvSpPr/>
          <p:nvPr/>
        </p:nvSpPr>
        <p:spPr>
          <a:xfrm>
            <a:off x="365760" y="1325880"/>
            <a:ext cx="329184" cy="329184"/>
          </a:xfrm>
          <a:prstGeom prst="rect">
            <a:avLst/>
          </a:prstGeom>
          <a:solidFill>
            <a:srgbClr val="2D6A4F"/>
          </a:solidFill>
          <a:ln/>
        </p:spPr>
      </p:sp>
      <p:sp>
        <p:nvSpPr>
          <p:cNvPr id="6" name="Text 4"/>
          <p:cNvSpPr/>
          <p:nvPr/>
        </p:nvSpPr>
        <p:spPr>
          <a:xfrm>
            <a:off x="365760" y="132588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7" name="Text 5"/>
          <p:cNvSpPr/>
          <p:nvPr/>
        </p:nvSpPr>
        <p:spPr>
          <a:xfrm>
            <a:off x="777240" y="1344168"/>
            <a:ext cx="365760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Predict income for all farmers using the ensemble</a:t>
            </a:r>
            <a:endParaRPr lang="en-US" sz="1050" dirty="0"/>
          </a:p>
        </p:txBody>
      </p:sp>
      <p:sp>
        <p:nvSpPr>
          <p:cNvPr id="8" name="Shape 6"/>
          <p:cNvSpPr/>
          <p:nvPr/>
        </p:nvSpPr>
        <p:spPr>
          <a:xfrm>
            <a:off x="365760" y="1828800"/>
            <a:ext cx="329184" cy="329184"/>
          </a:xfrm>
          <a:prstGeom prst="rect">
            <a:avLst/>
          </a:prstGeom>
          <a:solidFill>
            <a:srgbClr val="2D6A4F"/>
          </a:solidFill>
          <a:ln/>
        </p:spPr>
      </p:sp>
      <p:sp>
        <p:nvSpPr>
          <p:cNvPr id="9" name="Text 7"/>
          <p:cNvSpPr/>
          <p:nvPr/>
        </p:nvSpPr>
        <p:spPr>
          <a:xfrm>
            <a:off x="365760" y="182880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0" name="Text 8"/>
          <p:cNvSpPr/>
          <p:nvPr/>
        </p:nvSpPr>
        <p:spPr>
          <a:xfrm>
            <a:off x="777240" y="1847088"/>
            <a:ext cx="365760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Identify the bottom 25% , our target population</a:t>
            </a:r>
            <a:endParaRPr lang="en-US" sz="1050" dirty="0"/>
          </a:p>
        </p:txBody>
      </p:sp>
      <p:sp>
        <p:nvSpPr>
          <p:cNvPr id="11" name="Shape 9"/>
          <p:cNvSpPr/>
          <p:nvPr/>
        </p:nvSpPr>
        <p:spPr>
          <a:xfrm>
            <a:off x="365760" y="2331720"/>
            <a:ext cx="329184" cy="329184"/>
          </a:xfrm>
          <a:prstGeom prst="rect">
            <a:avLst/>
          </a:prstGeom>
          <a:solidFill>
            <a:srgbClr val="2D6A4F"/>
          </a:solidFill>
          <a:ln/>
        </p:spPr>
      </p:sp>
      <p:sp>
        <p:nvSpPr>
          <p:cNvPr id="12" name="Text 10"/>
          <p:cNvSpPr/>
          <p:nvPr/>
        </p:nvSpPr>
        <p:spPr>
          <a:xfrm>
            <a:off x="365760" y="23317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13" name="Text 11"/>
          <p:cNvSpPr/>
          <p:nvPr/>
        </p:nvSpPr>
        <p:spPr>
          <a:xfrm>
            <a:off x="777240" y="2350008"/>
            <a:ext cx="365760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Block income-derived features. e.g. Non-Agri Income cannot be a policy lever</a:t>
            </a:r>
            <a:endParaRPr lang="en-US" sz="1050" dirty="0"/>
          </a:p>
        </p:txBody>
      </p:sp>
      <p:sp>
        <p:nvSpPr>
          <p:cNvPr id="14" name="Shape 12"/>
          <p:cNvSpPr/>
          <p:nvPr/>
        </p:nvSpPr>
        <p:spPr>
          <a:xfrm>
            <a:off x="365760" y="2834640"/>
            <a:ext cx="329184" cy="329184"/>
          </a:xfrm>
          <a:prstGeom prst="rect">
            <a:avLst/>
          </a:prstGeom>
          <a:solidFill>
            <a:srgbClr val="2D6A4F"/>
          </a:solidFill>
          <a:ln/>
        </p:spPr>
      </p:sp>
      <p:sp>
        <p:nvSpPr>
          <p:cNvPr id="15" name="Text 13"/>
          <p:cNvSpPr/>
          <p:nvPr/>
        </p:nvSpPr>
        <p:spPr>
          <a:xfrm>
            <a:off x="365760" y="283464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16" name="Text 14"/>
          <p:cNvSpPr/>
          <p:nvPr/>
        </p:nvSpPr>
        <p:spPr>
          <a:xfrm>
            <a:off x="777240" y="2852928"/>
            <a:ext cx="365760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Rank remaining features by LightGBM importance</a:t>
            </a:r>
            <a:endParaRPr lang="en-US" sz="1050" dirty="0"/>
          </a:p>
        </p:txBody>
      </p:sp>
      <p:sp>
        <p:nvSpPr>
          <p:cNvPr id="17" name="Shape 15"/>
          <p:cNvSpPr/>
          <p:nvPr/>
        </p:nvSpPr>
        <p:spPr>
          <a:xfrm>
            <a:off x="365760" y="3337560"/>
            <a:ext cx="329184" cy="329184"/>
          </a:xfrm>
          <a:prstGeom prst="rect">
            <a:avLst/>
          </a:prstGeom>
          <a:solidFill>
            <a:srgbClr val="2D6A4F"/>
          </a:solidFill>
          <a:ln/>
        </p:spPr>
      </p:sp>
      <p:sp>
        <p:nvSpPr>
          <p:cNvPr id="18" name="Text 16"/>
          <p:cNvSpPr/>
          <p:nvPr/>
        </p:nvSpPr>
        <p:spPr>
          <a:xfrm>
            <a:off x="365760" y="333756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5</a:t>
            </a:r>
            <a:endParaRPr lang="en-US" sz="1300" dirty="0"/>
          </a:p>
        </p:txBody>
      </p:sp>
      <p:sp>
        <p:nvSpPr>
          <p:cNvPr id="19" name="Text 17"/>
          <p:cNvSpPr/>
          <p:nvPr/>
        </p:nvSpPr>
        <p:spPr>
          <a:xfrm>
            <a:off x="777240" y="3355848"/>
            <a:ext cx="3657600" cy="292608"/>
          </a:xfrm>
          <a:prstGeom prst="rect">
            <a:avLst/>
          </a:prstGeom>
          <a:noFill/>
          <a:ln/>
        </p:spPr>
        <p:txBody>
          <a:bodyPr wrap="square" lIns="0" tIns="0" rIns="0" bIns="0" rtlCol="0" anchor="ctr"/>
          <a:lstStyle/>
          <a:p>
            <a:pPr marL="0" indent="0">
              <a:buNone/>
            </a:pPr>
            <a:r>
              <a:rPr lang="en-US" sz="1050" dirty="0">
                <a:solidFill>
                  <a:srgbClr val="374151"/>
                </a:solidFill>
                <a:latin typeface="Calibri" pitchFamily="34" charset="0"/>
                <a:ea typeface="Calibri" pitchFamily="34" charset="-122"/>
                <a:cs typeface="Calibri" pitchFamily="34" charset="-120"/>
              </a:rPr>
              <a:t>Counterfactual simulation: set each feature to the 75th population percentile, rerun the model, measure income change</a:t>
            </a:r>
            <a:endParaRPr lang="en-US" sz="1050" dirty="0"/>
          </a:p>
        </p:txBody>
      </p:sp>
      <p:pic>
        <p:nvPicPr>
          <p:cNvPr id="20" name="Image 0" descr="/home/claude/charts/chart_intervention.png"/>
          <p:cNvPicPr>
            <a:picLocks noChangeAspect="1"/>
          </p:cNvPicPr>
          <p:nvPr/>
        </p:nvPicPr>
        <p:blipFill>
          <a:blip r:embed="rId3"/>
          <a:stretch>
            <a:fillRect/>
          </a:stretch>
        </p:blipFill>
        <p:spPr>
          <a:xfrm>
            <a:off x="4663440" y="914400"/>
            <a:ext cx="4206240" cy="1965960"/>
          </a:xfrm>
          <a:prstGeom prst="rect">
            <a:avLst/>
          </a:prstGeom>
        </p:spPr>
      </p:pic>
      <p:sp>
        <p:nvSpPr>
          <p:cNvPr id="24" name="Shape 21"/>
          <p:cNvSpPr/>
          <p:nvPr/>
        </p:nvSpPr>
        <p:spPr>
          <a:xfrm>
            <a:off x="365760" y="4498848"/>
            <a:ext cx="8412480" cy="411480"/>
          </a:xfrm>
          <a:prstGeom prst="rect">
            <a:avLst/>
          </a:prstGeom>
          <a:solidFill>
            <a:srgbClr val="2D6A4F"/>
          </a:solidFill>
          <a:ln/>
        </p:spPr>
      </p:sp>
      <p:sp>
        <p:nvSpPr>
          <p:cNvPr id="25" name="Text 22"/>
          <p:cNvSpPr/>
          <p:nvPr/>
        </p:nvSpPr>
        <p:spPr>
          <a:xfrm>
            <a:off x="457200" y="4517136"/>
            <a:ext cx="822960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Key finding:  Increasing land access to the 75th percentile lifts bottom-quartile farmer income by 27.5%.  Credit alone adds just 0.2%.</a:t>
            </a:r>
            <a:endParaRPr lang="en-US" sz="1100" dirty="0"/>
          </a:p>
        </p:txBody>
      </p:sp>
      <p:sp>
        <p:nvSpPr>
          <p:cNvPr id="26" name="Text 23"/>
          <p:cNvSpPr/>
          <p:nvPr/>
        </p:nvSpPr>
        <p:spPr>
          <a:xfrm>
            <a:off x="8503920" y="4480560"/>
            <a:ext cx="548640" cy="365760"/>
          </a:xfrm>
          <a:prstGeom prst="rect">
            <a:avLst/>
          </a:prstGeom>
          <a:noFill/>
          <a:ln/>
        </p:spPr>
        <p:txBody>
          <a:bodyPr wrap="square" lIns="0" tIns="0" rIns="0" bIns="0" rtlCol="0" anchor="ctr"/>
          <a:lstStyle/>
          <a:p>
            <a:pPr marL="0" indent="0" algn="r">
              <a:buNone/>
            </a:pPr>
            <a:r>
              <a:rPr lang="en-US" sz="1600" b="1" dirty="0">
                <a:solidFill>
                  <a:srgbClr val="FFFFFF"/>
                </a:solidFill>
              </a:rPr>
              <a:t>14</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4332"/>
          </a:solidFill>
          <a:ln/>
        </p:spPr>
      </p:sp>
      <p:sp>
        <p:nvSpPr>
          <p:cNvPr id="3" name="Text 1"/>
          <p:cNvSpPr/>
          <p:nvPr/>
        </p:nvSpPr>
        <p:spPr>
          <a:xfrm>
            <a:off x="365760" y="109728"/>
            <a:ext cx="8686800" cy="54864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Bonus B  (Seasonal Volatility Modelling)</a:t>
            </a:r>
            <a:endParaRPr lang="en-US" sz="2400" dirty="0"/>
          </a:p>
        </p:txBody>
      </p:sp>
      <p:sp>
        <p:nvSpPr>
          <p:cNvPr id="4" name="Shape 2"/>
          <p:cNvSpPr/>
          <p:nvPr/>
        </p:nvSpPr>
        <p:spPr>
          <a:xfrm>
            <a:off x="365760" y="914400"/>
            <a:ext cx="4206240" cy="2103120"/>
          </a:xfrm>
          <a:prstGeom prst="rect">
            <a:avLst/>
          </a:prstGeom>
          <a:solidFill>
            <a:srgbClr val="F7F9F7"/>
          </a:solidFill>
          <a:ln/>
          <a:effectLst>
            <a:outerShdw blurRad="101600" dist="38100" dir="8100000" algn="bl" rotWithShape="0">
              <a:srgbClr val="000000">
                <a:alpha val="10000"/>
              </a:srgbClr>
            </a:outerShdw>
          </a:effectLst>
        </p:spPr>
      </p:sp>
      <p:sp>
        <p:nvSpPr>
          <p:cNvPr id="5" name="Text 3"/>
          <p:cNvSpPr/>
          <p:nvPr/>
        </p:nvSpPr>
        <p:spPr>
          <a:xfrm>
            <a:off x="502920" y="1005840"/>
            <a:ext cx="3931920" cy="301752"/>
          </a:xfrm>
          <a:prstGeom prst="rect">
            <a:avLst/>
          </a:prstGeom>
          <a:noFill/>
          <a:ln/>
        </p:spPr>
        <p:txBody>
          <a:bodyPr wrap="square" lIns="0" tIns="0" rIns="0" bIns="0" rtlCol="0" anchor="ctr"/>
          <a:lstStyle/>
          <a:p>
            <a:pPr marL="0" indent="0">
              <a:buNone/>
            </a:pPr>
            <a:r>
              <a:rPr lang="en-US" sz="1300" b="1" dirty="0">
                <a:solidFill>
                  <a:srgbClr val="1B4332"/>
                </a:solidFill>
                <a:latin typeface="Georgia" pitchFamily="34" charset="0"/>
                <a:ea typeface="Georgia" pitchFamily="34" charset="-122"/>
                <a:cs typeface="Georgia" pitchFamily="34" charset="-120"/>
              </a:rPr>
              <a:t>The Insight</a:t>
            </a:r>
            <a:endParaRPr lang="en-US" sz="1300" dirty="0"/>
          </a:p>
        </p:txBody>
      </p:sp>
      <p:sp>
        <p:nvSpPr>
          <p:cNvPr id="6" name="Text 4"/>
          <p:cNvSpPr/>
          <p:nvPr/>
        </p:nvSpPr>
        <p:spPr>
          <a:xfrm>
            <a:off x="502920" y="1353312"/>
            <a:ext cx="3931920" cy="1508760"/>
          </a:xfrm>
          <a:prstGeom prst="rect">
            <a:avLst/>
          </a:prstGeom>
          <a:noFill/>
          <a:ln/>
        </p:spPr>
        <p:txBody>
          <a:bodyPr wrap="square" lIns="0" tIns="0" rIns="0" bIns="0" rtlCol="0" anchor="ctr"/>
          <a:lstStyle/>
          <a:p>
            <a:pPr marL="0" indent="0">
              <a:buNone/>
            </a:pPr>
            <a:r>
              <a:rPr lang="en-US" sz="1100" dirty="0">
                <a:solidFill>
                  <a:srgbClr val="374151"/>
                </a:solidFill>
                <a:latin typeface="Calibri" pitchFamily="34" charset="0"/>
                <a:ea typeface="Calibri" pitchFamily="34" charset="-122"/>
                <a:cs typeface="Calibri" pitchFamily="34" charset="-120"/>
              </a:rPr>
              <a:t>A farmer earning ₹12L one year, ₹3L the next, ₹14L the year after is a very different credit risk from one who earns ₹9L consistently every year. Average income alone does not capture this.</a:t>
            </a:r>
            <a:endParaRPr lang="en-US" sz="1100" dirty="0"/>
          </a:p>
          <a:p>
            <a:pPr marL="0" indent="0">
              <a:buNone/>
            </a:pPr>
            <a:endParaRPr lang="en-US" sz="1100" dirty="0"/>
          </a:p>
          <a:p>
            <a:pPr marL="0" indent="0">
              <a:buNone/>
            </a:pPr>
            <a:r>
              <a:rPr lang="en-US" sz="1100" dirty="0">
                <a:solidFill>
                  <a:srgbClr val="374151"/>
                </a:solidFill>
                <a:latin typeface="Calibri" pitchFamily="34" charset="0"/>
                <a:ea typeface="Calibri" pitchFamily="34" charset="-122"/>
                <a:cs typeface="Calibri" pitchFamily="34" charset="-120"/>
              </a:rPr>
              <a:t>We built a volatility score using the Coefficient of Variation (CV = std / mean) across seasonal agricultural scores and performance columns. High CV = unreliable, risky farmer.</a:t>
            </a:r>
            <a:endParaRPr lang="en-US" sz="1100" dirty="0"/>
          </a:p>
        </p:txBody>
      </p:sp>
      <p:pic>
        <p:nvPicPr>
          <p:cNvPr id="7" name="Image 0" descr="/home/claude/charts/chart_volatility.png"/>
          <p:cNvPicPr>
            <a:picLocks noChangeAspect="1"/>
          </p:cNvPicPr>
          <p:nvPr/>
        </p:nvPicPr>
        <p:blipFill>
          <a:blip r:embed="rId3"/>
          <a:stretch>
            <a:fillRect/>
          </a:stretch>
        </p:blipFill>
        <p:spPr>
          <a:xfrm>
            <a:off x="4754880" y="859536"/>
            <a:ext cx="4114800" cy="2157984"/>
          </a:xfrm>
          <a:prstGeom prst="rect">
            <a:avLst/>
          </a:prstGeom>
        </p:spPr>
      </p:pic>
      <p:sp>
        <p:nvSpPr>
          <p:cNvPr id="8" name="Shape 5"/>
          <p:cNvSpPr/>
          <p:nvPr/>
        </p:nvSpPr>
        <p:spPr>
          <a:xfrm>
            <a:off x="365760" y="3154680"/>
            <a:ext cx="8567928" cy="1005840"/>
          </a:xfrm>
          <a:prstGeom prst="rect">
            <a:avLst/>
          </a:prstGeom>
          <a:solidFill>
            <a:srgbClr val="1E2029"/>
          </a:solidFill>
          <a:ln/>
        </p:spPr>
      </p:sp>
      <p:sp>
        <p:nvSpPr>
          <p:cNvPr id="9" name="Text 6"/>
          <p:cNvSpPr/>
          <p:nvPr/>
        </p:nvSpPr>
        <p:spPr>
          <a:xfrm>
            <a:off x="365760" y="3154680"/>
            <a:ext cx="8412480" cy="256032"/>
          </a:xfrm>
          <a:prstGeom prst="rect">
            <a:avLst/>
          </a:prstGeom>
          <a:noFill/>
          <a:ln/>
        </p:spPr>
        <p:txBody>
          <a:bodyPr wrap="square" lIns="63500" tIns="63500" rIns="63500" bIns="63500" rtlCol="0" anchor="ctr"/>
          <a:lstStyle/>
          <a:p>
            <a:pPr marL="0" indent="0">
              <a:buNone/>
            </a:pPr>
            <a:r>
              <a:rPr lang="en-US" sz="900" dirty="0">
                <a:solidFill>
                  <a:srgbClr val="5C6370"/>
                </a:solidFill>
                <a:latin typeface="Courier New" pitchFamily="34" charset="0"/>
                <a:ea typeface="Courier New" pitchFamily="34" charset="-122"/>
                <a:cs typeface="Courier New" pitchFamily="34" charset="-120"/>
              </a:rPr>
              <a:t>python</a:t>
            </a:r>
            <a:endParaRPr lang="en-US" sz="900" dirty="0"/>
          </a:p>
        </p:txBody>
      </p:sp>
      <p:sp>
        <p:nvSpPr>
          <p:cNvPr id="10" name="Text 7"/>
          <p:cNvSpPr/>
          <p:nvPr/>
        </p:nvSpPr>
        <p:spPr>
          <a:xfrm>
            <a:off x="411480" y="3401568"/>
            <a:ext cx="8321040" cy="694944"/>
          </a:xfrm>
          <a:prstGeom prst="rect">
            <a:avLst/>
          </a:prstGeom>
          <a:noFill/>
          <a:ln/>
        </p:spPr>
        <p:txBody>
          <a:bodyPr wrap="square" lIns="101600" tIns="101600" rIns="101600" bIns="101600" rtlCol="0" anchor="t"/>
          <a:lstStyle/>
          <a:p>
            <a:pPr marL="0" indent="0">
              <a:buNone/>
            </a:pPr>
            <a:r>
              <a:rPr lang="en-US" sz="1050" dirty="0">
                <a:solidFill>
                  <a:srgbClr val="ABB2BF"/>
                </a:solidFill>
                <a:latin typeface="Courier New" pitchFamily="34" charset="0"/>
                <a:ea typeface="Courier New" pitchFamily="34" charset="-122"/>
                <a:cs typeface="Courier New" pitchFamily="34" charset="-120"/>
              </a:rPr>
              <a:t>vol_df['volatility_score'] = StandardScaler().fit_transform(vol_df[['score_cv', 'perf_cv']]).mean(axis=1)</a:t>
            </a:r>
            <a:endParaRPr lang="en-US" sz="1050" dirty="0"/>
          </a:p>
          <a:p>
            <a:pPr marL="0" indent="0">
              <a:buNone/>
            </a:pPr>
            <a:r>
              <a:rPr lang="en-US" sz="1050" dirty="0">
                <a:solidFill>
                  <a:srgbClr val="ABB2BF"/>
                </a:solidFill>
                <a:latin typeface="Courier New" pitchFamily="34" charset="0"/>
                <a:ea typeface="Courier New" pitchFamily="34" charset="-122"/>
                <a:cs typeface="Courier New" pitchFamily="34" charset="-120"/>
              </a:rPr>
              <a:t>vol_df['high_risk'] = (income &lt; income.quantile(0.40)) &amp; (volatility &gt; volatility.quantile(0.60))</a:t>
            </a:r>
            <a:endParaRPr lang="en-US" sz="1050" dirty="0"/>
          </a:p>
        </p:txBody>
      </p:sp>
      <p:sp>
        <p:nvSpPr>
          <p:cNvPr id="11" name="Shape 8"/>
          <p:cNvSpPr/>
          <p:nvPr/>
        </p:nvSpPr>
        <p:spPr>
          <a:xfrm>
            <a:off x="365760" y="4251960"/>
            <a:ext cx="4160520" cy="594360"/>
          </a:xfrm>
          <a:prstGeom prst="rect">
            <a:avLst/>
          </a:prstGeom>
          <a:solidFill>
            <a:srgbClr val="1B4332"/>
          </a:solidFill>
          <a:ln/>
        </p:spPr>
      </p:sp>
      <p:sp>
        <p:nvSpPr>
          <p:cNvPr id="12" name="Text 9"/>
          <p:cNvSpPr/>
          <p:nvPr/>
        </p:nvSpPr>
        <p:spPr>
          <a:xfrm>
            <a:off x="457200" y="4279392"/>
            <a:ext cx="1371600" cy="502920"/>
          </a:xfrm>
          <a:prstGeom prst="rect">
            <a:avLst/>
          </a:prstGeom>
          <a:noFill/>
          <a:ln/>
        </p:spPr>
        <p:txBody>
          <a:bodyPr wrap="square" lIns="0" tIns="0" rIns="0" bIns="0" rtlCol="0" anchor="ctr"/>
          <a:lstStyle/>
          <a:p>
            <a:pPr marL="0" indent="0">
              <a:buNone/>
            </a:pPr>
            <a:r>
              <a:rPr lang="en-US" sz="1300" b="1" dirty="0">
                <a:solidFill>
                  <a:srgbClr val="C9963A"/>
                </a:solidFill>
                <a:latin typeface="Georgia" pitchFamily="34" charset="0"/>
                <a:ea typeface="Georgia" pitchFamily="34" charset="-122"/>
                <a:cs typeface="Georgia" pitchFamily="34" charset="-120"/>
              </a:rPr>
              <a:t>26% lower income</a:t>
            </a:r>
            <a:endParaRPr lang="en-US" sz="1300" dirty="0"/>
          </a:p>
        </p:txBody>
      </p:sp>
      <p:sp>
        <p:nvSpPr>
          <p:cNvPr id="13" name="Text 10"/>
          <p:cNvSpPr/>
          <p:nvPr/>
        </p:nvSpPr>
        <p:spPr>
          <a:xfrm>
            <a:off x="1874520" y="4279392"/>
            <a:ext cx="251460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for farmers in the highest volatility quartile compared to the most stable quartile</a:t>
            </a:r>
            <a:endParaRPr lang="en-US" sz="1000" dirty="0"/>
          </a:p>
        </p:txBody>
      </p:sp>
      <p:sp>
        <p:nvSpPr>
          <p:cNvPr id="14" name="Shape 11"/>
          <p:cNvSpPr/>
          <p:nvPr/>
        </p:nvSpPr>
        <p:spPr>
          <a:xfrm>
            <a:off x="4773168" y="4251960"/>
            <a:ext cx="4160520" cy="594360"/>
          </a:xfrm>
          <a:prstGeom prst="rect">
            <a:avLst/>
          </a:prstGeom>
          <a:solidFill>
            <a:srgbClr val="1B4332"/>
          </a:solidFill>
          <a:ln/>
        </p:spPr>
      </p:sp>
      <p:sp>
        <p:nvSpPr>
          <p:cNvPr id="15" name="Text 12"/>
          <p:cNvSpPr/>
          <p:nvPr/>
        </p:nvSpPr>
        <p:spPr>
          <a:xfrm>
            <a:off x="4864608" y="4279392"/>
            <a:ext cx="1371600" cy="502920"/>
          </a:xfrm>
          <a:prstGeom prst="rect">
            <a:avLst/>
          </a:prstGeom>
          <a:noFill/>
          <a:ln/>
        </p:spPr>
        <p:txBody>
          <a:bodyPr wrap="square" lIns="0" tIns="0" rIns="0" bIns="0" rtlCol="0" anchor="ctr"/>
          <a:lstStyle/>
          <a:p>
            <a:pPr marL="0" indent="0">
              <a:buNone/>
            </a:pPr>
            <a:r>
              <a:rPr lang="en-US" sz="1300" b="1" dirty="0">
                <a:solidFill>
                  <a:srgbClr val="C9963A"/>
                </a:solidFill>
                <a:latin typeface="Georgia" pitchFamily="34" charset="0"/>
                <a:ea typeface="Georgia" pitchFamily="34" charset="-122"/>
                <a:cs typeface="Georgia" pitchFamily="34" charset="-120"/>
              </a:rPr>
              <a:t>2.1x more likely</a:t>
            </a:r>
            <a:endParaRPr lang="en-US" sz="1300" dirty="0"/>
          </a:p>
        </p:txBody>
      </p:sp>
      <p:sp>
        <p:nvSpPr>
          <p:cNvPr id="16" name="Text 13"/>
          <p:cNvSpPr/>
          <p:nvPr/>
        </p:nvSpPr>
        <p:spPr>
          <a:xfrm>
            <a:off x="6281928" y="4279392"/>
            <a:ext cx="2514600" cy="5029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to fall into the low-income group if a farmer shows high seasonal volatility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52B788"/>
          </a:solidFill>
          <a:ln/>
        </p:spPr>
      </p:sp>
      <p:sp>
        <p:nvSpPr>
          <p:cNvPr id="3" name="Text 1"/>
          <p:cNvSpPr/>
          <p:nvPr/>
        </p:nvSpPr>
        <p:spPr>
          <a:xfrm>
            <a:off x="457200" y="502920"/>
            <a:ext cx="8229600" cy="640080"/>
          </a:xfrm>
          <a:prstGeom prst="rect">
            <a:avLst/>
          </a:prstGeom>
          <a:noFill/>
          <a:ln/>
        </p:spPr>
        <p:txBody>
          <a:bodyPr wrap="square" lIns="0" tIns="0" rIns="0" bIns="0"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What We Built</a:t>
            </a:r>
            <a:endParaRPr lang="en-US" sz="3800" dirty="0"/>
          </a:p>
        </p:txBody>
      </p:sp>
      <p:sp>
        <p:nvSpPr>
          <p:cNvPr id="4" name="Shape 2"/>
          <p:cNvSpPr/>
          <p:nvPr/>
        </p:nvSpPr>
        <p:spPr>
          <a:xfrm>
            <a:off x="457200" y="1371600"/>
            <a:ext cx="8229600" cy="713232"/>
          </a:xfrm>
          <a:prstGeom prst="rect">
            <a:avLst/>
          </a:prstGeom>
          <a:solidFill>
            <a:srgbClr val="2D6A4F"/>
          </a:solidFill>
          <a:ln/>
        </p:spPr>
      </p:sp>
      <p:sp>
        <p:nvSpPr>
          <p:cNvPr id="5" name="Text 3"/>
          <p:cNvSpPr/>
          <p:nvPr/>
        </p:nvSpPr>
        <p:spPr>
          <a:xfrm>
            <a:off x="594360" y="1426464"/>
            <a:ext cx="1371600" cy="566928"/>
          </a:xfrm>
          <a:prstGeom prst="rect">
            <a:avLst/>
          </a:prstGeom>
          <a:noFill/>
          <a:ln/>
        </p:spPr>
        <p:txBody>
          <a:bodyPr wrap="square" lIns="0" tIns="0" rIns="0" bIns="0" rtlCol="0" anchor="ctr"/>
          <a:lstStyle/>
          <a:p>
            <a:pPr marL="0" indent="0">
              <a:buNone/>
            </a:pPr>
            <a:r>
              <a:rPr lang="en-US" sz="1200" b="1" dirty="0">
                <a:solidFill>
                  <a:srgbClr val="C9963A"/>
                </a:solidFill>
                <a:latin typeface="Georgia" pitchFamily="34" charset="0"/>
                <a:ea typeface="Georgia" pitchFamily="34" charset="-122"/>
                <a:cs typeface="Georgia" pitchFamily="34" charset="-120"/>
              </a:rPr>
              <a:t>Prediction</a:t>
            </a:r>
            <a:endParaRPr lang="en-US" sz="1200" dirty="0"/>
          </a:p>
        </p:txBody>
      </p:sp>
      <p:sp>
        <p:nvSpPr>
          <p:cNvPr id="6" name="Text 4"/>
          <p:cNvSpPr/>
          <p:nvPr/>
        </p:nvSpPr>
        <p:spPr>
          <a:xfrm>
            <a:off x="2057400" y="1426464"/>
            <a:ext cx="649224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An ensemble of LightGBM and Random Forest that predicts farmer income with 20.24% MAPE and R² of 0.882 across 43,173 records.</a:t>
            </a:r>
            <a:endParaRPr lang="en-US" sz="1150" dirty="0"/>
          </a:p>
        </p:txBody>
      </p:sp>
      <p:sp>
        <p:nvSpPr>
          <p:cNvPr id="7" name="Shape 5"/>
          <p:cNvSpPr/>
          <p:nvPr/>
        </p:nvSpPr>
        <p:spPr>
          <a:xfrm>
            <a:off x="457200" y="2212848"/>
            <a:ext cx="8229600" cy="713232"/>
          </a:xfrm>
          <a:prstGeom prst="rect">
            <a:avLst/>
          </a:prstGeom>
          <a:solidFill>
            <a:srgbClr val="2D6A4F"/>
          </a:solidFill>
          <a:ln/>
        </p:spPr>
      </p:sp>
      <p:sp>
        <p:nvSpPr>
          <p:cNvPr id="8" name="Text 6"/>
          <p:cNvSpPr/>
          <p:nvPr/>
        </p:nvSpPr>
        <p:spPr>
          <a:xfrm>
            <a:off x="594360" y="2267712"/>
            <a:ext cx="1371600" cy="566928"/>
          </a:xfrm>
          <a:prstGeom prst="rect">
            <a:avLst/>
          </a:prstGeom>
          <a:noFill/>
          <a:ln/>
        </p:spPr>
        <p:txBody>
          <a:bodyPr wrap="square" lIns="0" tIns="0" rIns="0" bIns="0" rtlCol="0" anchor="ctr"/>
          <a:lstStyle/>
          <a:p>
            <a:pPr marL="0" indent="0">
              <a:buNone/>
            </a:pPr>
            <a:r>
              <a:rPr lang="en-US" sz="1200" b="1" dirty="0">
                <a:solidFill>
                  <a:srgbClr val="C9963A"/>
                </a:solidFill>
                <a:latin typeface="Georgia" pitchFamily="34" charset="0"/>
                <a:ea typeface="Georgia" pitchFamily="34" charset="-122"/>
                <a:cs typeface="Georgia" pitchFamily="34" charset="-120"/>
              </a:rPr>
              <a:t>Key insight</a:t>
            </a:r>
            <a:endParaRPr lang="en-US" sz="1200" dirty="0"/>
          </a:p>
        </p:txBody>
      </p:sp>
      <p:sp>
        <p:nvSpPr>
          <p:cNvPr id="9" name="Text 7"/>
          <p:cNvSpPr/>
          <p:nvPr/>
        </p:nvSpPr>
        <p:spPr>
          <a:xfrm>
            <a:off x="2057400" y="2267712"/>
            <a:ext cx="649224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Non-agricultural income dominates all features. Farming quality alone does not separate rich farmers from poor ones.</a:t>
            </a:r>
            <a:endParaRPr lang="en-US" sz="1150" dirty="0"/>
          </a:p>
        </p:txBody>
      </p:sp>
      <p:sp>
        <p:nvSpPr>
          <p:cNvPr id="10" name="Shape 8"/>
          <p:cNvSpPr/>
          <p:nvPr/>
        </p:nvSpPr>
        <p:spPr>
          <a:xfrm>
            <a:off x="457200" y="3054096"/>
            <a:ext cx="8229600" cy="713232"/>
          </a:xfrm>
          <a:prstGeom prst="rect">
            <a:avLst/>
          </a:prstGeom>
          <a:solidFill>
            <a:srgbClr val="2D6A4F"/>
          </a:solidFill>
          <a:ln/>
        </p:spPr>
      </p:sp>
      <p:sp>
        <p:nvSpPr>
          <p:cNvPr id="11" name="Text 9"/>
          <p:cNvSpPr/>
          <p:nvPr/>
        </p:nvSpPr>
        <p:spPr>
          <a:xfrm>
            <a:off x="594360" y="3108960"/>
            <a:ext cx="1371600" cy="566928"/>
          </a:xfrm>
          <a:prstGeom prst="rect">
            <a:avLst/>
          </a:prstGeom>
          <a:noFill/>
          <a:ln/>
        </p:spPr>
        <p:txBody>
          <a:bodyPr wrap="square" lIns="0" tIns="0" rIns="0" bIns="0" rtlCol="0" anchor="ctr"/>
          <a:lstStyle/>
          <a:p>
            <a:pPr marL="0" indent="0">
              <a:buNone/>
            </a:pPr>
            <a:r>
              <a:rPr lang="en-US" sz="1200" b="1" dirty="0">
                <a:solidFill>
                  <a:srgbClr val="C9963A"/>
                </a:solidFill>
                <a:latin typeface="Georgia" pitchFamily="34" charset="0"/>
                <a:ea typeface="Georgia" pitchFamily="34" charset="-122"/>
                <a:cs typeface="Georgia" pitchFamily="34" charset="-120"/>
              </a:rPr>
              <a:t>Intervention</a:t>
            </a:r>
            <a:endParaRPr lang="en-US" sz="1200" dirty="0"/>
          </a:p>
        </p:txBody>
      </p:sp>
      <p:sp>
        <p:nvSpPr>
          <p:cNvPr id="12" name="Text 10"/>
          <p:cNvSpPr/>
          <p:nvPr/>
        </p:nvSpPr>
        <p:spPr>
          <a:xfrm>
            <a:off x="2057400" y="3108960"/>
            <a:ext cx="649224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For the bottom 25% of farmers, increasing land access to the 75th percentile lifts income by 27.5%. Credit access alone barely moves the needle.</a:t>
            </a:r>
            <a:endParaRPr lang="en-US" sz="1150" dirty="0"/>
          </a:p>
        </p:txBody>
      </p:sp>
      <p:sp>
        <p:nvSpPr>
          <p:cNvPr id="13" name="Shape 11"/>
          <p:cNvSpPr/>
          <p:nvPr/>
        </p:nvSpPr>
        <p:spPr>
          <a:xfrm>
            <a:off x="457200" y="3895344"/>
            <a:ext cx="8229600" cy="713232"/>
          </a:xfrm>
          <a:prstGeom prst="rect">
            <a:avLst/>
          </a:prstGeom>
          <a:solidFill>
            <a:srgbClr val="2D6A4F"/>
          </a:solidFill>
          <a:ln/>
        </p:spPr>
      </p:sp>
      <p:sp>
        <p:nvSpPr>
          <p:cNvPr id="14" name="Text 12"/>
          <p:cNvSpPr/>
          <p:nvPr/>
        </p:nvSpPr>
        <p:spPr>
          <a:xfrm>
            <a:off x="594360" y="3950208"/>
            <a:ext cx="1371600" cy="566928"/>
          </a:xfrm>
          <a:prstGeom prst="rect">
            <a:avLst/>
          </a:prstGeom>
          <a:noFill/>
          <a:ln/>
        </p:spPr>
        <p:txBody>
          <a:bodyPr wrap="square" lIns="0" tIns="0" rIns="0" bIns="0" rtlCol="0" anchor="ctr"/>
          <a:lstStyle/>
          <a:p>
            <a:pPr marL="0" indent="0">
              <a:buNone/>
            </a:pPr>
            <a:r>
              <a:rPr lang="en-US" sz="1200" b="1" dirty="0">
                <a:solidFill>
                  <a:srgbClr val="C9963A"/>
                </a:solidFill>
                <a:latin typeface="Georgia" pitchFamily="34" charset="0"/>
                <a:ea typeface="Georgia" pitchFamily="34" charset="-122"/>
                <a:cs typeface="Georgia" pitchFamily="34" charset="-120"/>
              </a:rPr>
              <a:t>Risk model</a:t>
            </a:r>
            <a:endParaRPr lang="en-US" sz="1200" dirty="0"/>
          </a:p>
        </p:txBody>
      </p:sp>
      <p:sp>
        <p:nvSpPr>
          <p:cNvPr id="15" name="Text 13"/>
          <p:cNvSpPr/>
          <p:nvPr/>
        </p:nvSpPr>
        <p:spPr>
          <a:xfrm>
            <a:off x="2057400" y="3950208"/>
            <a:ext cx="6492240" cy="566928"/>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Income stability is a stronger creditworthiness signal than average income. High-volatility farmers are 2.1x more likely to be in the low-income group.</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TotalTime>
  <Words>2035</Words>
  <Application>Microsoft Office PowerPoint</Application>
  <PresentationFormat>On-screen Show (16:9)</PresentationFormat>
  <Paragraphs>324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AgriIntel — ML Project Breakdown</dc:title>
  <dc:subject>PptxGenJS Presentation</dc:subject>
  <dc:creator>PptxGenJS</dc:creator>
  <cp:lastModifiedBy>Shivanshi Tyagi</cp:lastModifiedBy>
  <cp:revision>2</cp:revision>
  <dcterms:created xsi:type="dcterms:W3CDTF">2026-05-17T05:56:11Z</dcterms:created>
  <dcterms:modified xsi:type="dcterms:W3CDTF">2026-05-17T08:48:07Z</dcterms:modified>
</cp:coreProperties>
</file>